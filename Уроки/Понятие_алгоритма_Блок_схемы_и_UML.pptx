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Представиться, назвать тему и связь с предыдущей лекцией о языках программирования. Сегодня — шаг назад от кода: как задача превращается в алгоритм и как этот алгоритм записать так, чтобы его понял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блоков. Первые три — теория, последние два — практические нотации, которые понадобятся уже на ближайшей лабораторной и потом в курсовой.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аудиторию: кто уже сталкивался с бесконечным циклом? Обычно поднимается половина рук. Это и есть цена пропуска этапа алгоритмизации.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определение по частям: конечная — значит завершается; точно определённых — без двусмысленности; по допустимым данным — область применимости; к результату — результативность. Каждое слово тут 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Упомянуть алгоритм Евклида (около 300 г. до н. э.) как пример того, что алгоритмы старше не только компьютеров, но и самого термина.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одна задача порождает разные алгоритмы для разных исполнителей. Уровень детализации задаётся системой команд.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каждому свойству просить у аудитории пример нарушения. Массовость: программа, складывающая только 2 и 3, никому не нужна.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Классический спор: является ли кулинарный рецепт алгоритмом. Ответ: для человека — почти да, для робота — нет, потому что «по вкусу» не входит в его 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уместно сделать паузу. Это первая встреча первокурсника с алгоритмической неразрешимостью — с тем, что у вычислений есть принципиальные границы.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из этих трёх кирпичей собирается всё, включая операционную систему. Дальше разбираем каждый.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Блок-схему этого же алгоритма покажем в разделе про блок-схемы — пусть студенты пока держат его в голове.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Обратить внимание на ветвь else: обработка недопустимых данных — это тоже часть алгоритма, а не «необязательная мелочь».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Напомнить про прошлую лекцию: разные языки по-разному расставляют акценты, но конструкции одни и те же. Это и есть смысл изучать алгоритмы отдельно от языка.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Подробно рекурсию разбираем в лекции 10. Здесь достаточно показать базу и шаг и спросить, что будет, если убрать проверку n &lt;=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совмещения классов: быстрая сортировка — циклическая, точная, последовательная, но со случайным выбором опорного элемента.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критерий выбора — кто будет читать запись. Себе через неделю, однокурснику, комиссии на защите или компилятору.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Четвёртую запись — блок-схему — покажем через два слайда, чтобы студенты увидели все четыре варианта одной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Стандарт действующий: именно на него ссылается нормоконтроль при проверке пояснительных записок к курсовым и ВКР.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Обратить внимание: ввод-вывод — параллелограмм, а не прямоугольник. Это самая частая ошибка в лабораторных.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 трассировку: большинство ошибок обнаруживается уже на втором шаге. Это же навык понадобится при отладке.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Пройти схему с числами a = 5, b = 9: первая проверка даёт «нет», значит max = b = 9. Затем спросить, что изменится при a =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Спросить: что будет, если убрать из тела цикла увеличение i. Ответ — бесконечный цикл, нарушено свойство конечности. Затем показать тот же алгоритм кодом: for i in range(1, n + 1).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стоит сфотографировать — он же чек-лист самопроверки перед сдачей лабораторной.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Зачем программисту: обсуждать архитектуру до написания кода, документировать систему, генерировать заготовки кода по модели. И это обязательная часть пояснительной записки к курсовой и ВКР.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требовать запоминания всех четырнадцати. Важно понимать деление на структурные и поведенческие и уметь выбрать нужную.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Сравнить с блок-схемой прямо на слайде: терминатор превратился в закрашенный круг, процесс — в скруглённый прямоугольник, ромб остался ромбом.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Обратить внимание на два зелёных узла: fork запускает параллельные потоки, join ждёт завершения обоих. В блок-схеме пришлось бы выстроить их в цепочку и потерять смысл.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Диаграмму классов подробно разберём, когда дойдём до ООП. Сейчас достаточно узнавать её на чужих схемах.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Короткий вывод: блок-схема — учебный и нормативный инструмент, UML — инструмент промышленного проектирования.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вживую: вставить текст Mermaid в онлайн-редактор и получить схему за десять секунд. Это обычно убеждает лучше любых аргументов.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Вопросы для самопроверки есть в конспекте: почему рецепт блинов не алгоритм, может ли быть два блока «конец», что будет, если убрать увеличение счётчика.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Задания 1 и 2 — на ближайшем практическом занятии, 3 и 4 — домашняя работа. Принимаются схемы, нарисованные в любом инструменте, включая текстовые нотации.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Лекция 4 · Алгоритмизация и программирование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820931"/>
            <a:ext cx="10883393" cy="705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356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Понятие алгоритма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729718"/>
            <a:ext cx="1088339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Виды алгоритмов · Способы представления · Блок-схемы · UML-диаграммы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831852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СПбГУПТД · ИИТА · 1 курс · 2 академических часа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лекции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590675"/>
            <a:ext cx="3414174" cy="1901825"/>
          </a:xfrm>
          <a:prstGeom prst="roundRect">
            <a:avLst>
              <a:gd name="adj" fmla="val 517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243" y="1846943"/>
            <a:ext cx="298868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72243" y="2197440"/>
            <a:ext cx="2988688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и его свойства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2243" y="2542863"/>
            <a:ext cx="2988688" cy="487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Определение, исполнитель, СКИ, шесть свойств, проблема остановки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99" y="1590675"/>
            <a:ext cx="3414202" cy="1901825"/>
          </a:xfrm>
          <a:prstGeom prst="roundRect">
            <a:avLst>
              <a:gd name="adj" fmla="val 517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67" y="1846943"/>
            <a:ext cx="298871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45167" y="2197440"/>
            <a:ext cx="2988717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Виды алгоритмов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67" y="2542863"/>
            <a:ext cx="2988717" cy="71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Линейный, ветвящийся, циклический, вспомогательный и другие классификации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61851" y="1590675"/>
            <a:ext cx="3414174" cy="1901825"/>
          </a:xfrm>
          <a:prstGeom prst="roundRect">
            <a:avLst>
              <a:gd name="adj" fmla="val 517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8119" y="1846943"/>
            <a:ext cx="298868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8119" y="2197440"/>
            <a:ext cx="2988688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Способы записи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18119" y="2542863"/>
            <a:ext cx="2988688" cy="487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Словесный, псевдокод, графический, код, таблицы решений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975" y="3854451"/>
            <a:ext cx="5200650" cy="1670702"/>
          </a:xfrm>
          <a:prstGeom prst="roundRect">
            <a:avLst>
              <a:gd name="adj" fmla="val 589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2243" y="4110718"/>
            <a:ext cx="482875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2243" y="4461216"/>
            <a:ext cx="4828758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Блок-схемы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2243" y="4806638"/>
            <a:ext cx="4828758" cy="487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 19.701-90, символы, правила построения, разбор примеров, типичные ошибки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5375" y="3854451"/>
            <a:ext cx="5200650" cy="1670702"/>
          </a:xfrm>
          <a:prstGeom prst="roundRect">
            <a:avLst>
              <a:gd name="adj" fmla="val 589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1643" y="4110718"/>
            <a:ext cx="482875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31643" y="4461216"/>
            <a:ext cx="4828758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1643" y="4806638"/>
            <a:ext cx="4828758" cy="487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Четырнадцать диаграмм, диаграмма деятельности, сравнение с блок-схемой, инструменты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52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66401" y="623825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это нужно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87500"/>
            <a:ext cx="10883393" cy="688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Программист тратит на обдумывание решения больше времени, чем на набор кода. Язык программирования — последний шаг.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5975" y="2609171"/>
            <a:ext cx="5175250" cy="2326963"/>
          </a:xfrm>
          <a:prstGeom prst="roundRect">
            <a:avLst>
              <a:gd name="adj" fmla="val 423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865438"/>
            <a:ext cx="48025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обычно делают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2243" y="3208338"/>
            <a:ext cx="4802596" cy="52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 редактор и начать писать </a:t>
            </a: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in range(n)</a:t>
            </a: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не представляя, что именно перебираешь.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72243" y="3819809"/>
            <a:ext cx="4802596" cy="52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код «почти работает», бесконечные циклы, невозможность объяснить своё решение на защите.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00775" y="2609171"/>
            <a:ext cx="5175250" cy="2326963"/>
          </a:xfrm>
          <a:prstGeom prst="roundRect">
            <a:avLst>
              <a:gd name="adj" fmla="val 423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043" y="2865438"/>
            <a:ext cx="48025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надо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57043" y="3208338"/>
            <a:ext cx="4802596" cy="52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Свести задачу к конечной последовательности точных действий.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57043" y="3819809"/>
            <a:ext cx="4802596" cy="52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Записать её так, чтобы понял человек: схемой, псевдокодом, диаграммой.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57043" y="4431280"/>
            <a:ext cx="4802596" cy="273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только потом перевести на язык программирования.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2800" y="6238252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66401" y="623825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8A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81502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Определение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35200"/>
            <a:ext cx="10883393" cy="2128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— конечная последовательность точно определённых действий, которая по допустимым исходным данным за конечное число шагов приводит к результату.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643096"/>
            <a:ext cx="1088339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имени персидского математика IX века аль-Хорезми. Латинский перевод его трактата начинался словами «Dixit Algorizmi».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формализации 1930-х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36700"/>
            <a:ext cx="1088339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Строгое определение понадобилось, когда потребовалось доказывать, что некоторые задачи алгоритмически неразрешимы. Три независимых модели оказались эквивалентны по вычислительной мощности.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74900"/>
          <a:ext cx="10566401" cy="2265589"/>
        </p:xfrm>
        <a:graphic>
          <a:graphicData uri="http://schemas.openxmlformats.org/drawingml/2006/table">
            <a:tbl>
              <a:tblPr/>
              <a:tblGrid>
                <a:gridCol w="3522134"/>
                <a:gridCol w="3522134"/>
                <a:gridCol w="3522134"/>
              </a:tblGrid>
              <a:tr h="56639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Автор, год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Идея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</a:tr>
              <a:tr h="56639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Машина Тьюринга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А. Тьюринг, 1936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Головка, лента, таблица переходов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39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Лямбда-исчисление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А. Чёрч, 1936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Функции и их применение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39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Нормальные алгорифмы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А. А. Марков, 1951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Подстановки в строках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52400" marB="1524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957992"/>
            <a:ext cx="108833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Тезис Чёрча — Тьюринга.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Любой алгоритм в интуитивном смысле реализуем на машине Тьюринга. Это не теорема, а соглашение о том, что считать алгоритмом.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52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1" y="623825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3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Исполнитель и его система команд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36703"/>
            <a:ext cx="10883393" cy="614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всегда пишется для конкретного исполнителя. Исполнитель характеризуется </a:t>
            </a: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</a:t>
            </a:r>
            <a:r>
              <a: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набором команд, которые он понимает, и средой, в которой работает.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2433923"/>
            <a:ext cx="3414174" cy="1010359"/>
          </a:xfrm>
          <a:prstGeom prst="roundRect">
            <a:avLst>
              <a:gd name="adj" fmla="val 974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843" y="2664789"/>
            <a:ext cx="30410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6843" y="2982289"/>
            <a:ext cx="304101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«Сложи числа в столбик»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99" y="2433923"/>
            <a:ext cx="3414202" cy="1010359"/>
          </a:xfrm>
          <a:prstGeom prst="roundRect">
            <a:avLst>
              <a:gd name="adj" fmla="val 974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9767" y="2664789"/>
            <a:ext cx="30410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9767" y="2982289"/>
            <a:ext cx="3041041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51" y="2433923"/>
            <a:ext cx="3414174" cy="1010359"/>
          </a:xfrm>
          <a:prstGeom prst="roundRect">
            <a:avLst>
              <a:gd name="adj" fmla="val 974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2719" y="2664789"/>
            <a:ext cx="30410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Процессор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2719" y="2982289"/>
            <a:ext cx="304101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MOV, ADD, JMP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755433"/>
            <a:ext cx="10560051" cy="1348156"/>
          </a:xfrm>
          <a:prstGeom prst="roundRect">
            <a:avLst>
              <a:gd name="adj" fmla="val 7301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2243" y="4011699"/>
            <a:ext cx="10348940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Исполнитель формален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2243" y="4331723"/>
            <a:ext cx="10348940" cy="54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 выполняет команды буквально и не догадывается о вашем замысле. «Посолить по вкусу» — команда для человека, но не для процессора.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52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66401" y="623825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свойств алгоритма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9075"/>
            <a:ext cx="3414174" cy="1172936"/>
          </a:xfrm>
          <a:prstGeom prst="roundRect">
            <a:avLst>
              <a:gd name="adj" fmla="val 839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443" y="1694542"/>
            <a:ext cx="30933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Дискретность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21443" y="2012042"/>
            <a:ext cx="30933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Разбит на отдельные завершённые шаги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8899" y="1489075"/>
            <a:ext cx="3414202" cy="1172936"/>
          </a:xfrm>
          <a:prstGeom prst="roundRect">
            <a:avLst>
              <a:gd name="adj" fmla="val 839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367" y="1694542"/>
            <a:ext cx="30933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Детерминированность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94367" y="2012042"/>
            <a:ext cx="309336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шаг определён однозначно, повтор даёт тот же результат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61851" y="1489075"/>
            <a:ext cx="3414174" cy="1172936"/>
          </a:xfrm>
          <a:prstGeom prst="roundRect">
            <a:avLst>
              <a:gd name="adj" fmla="val 839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7319" y="1694542"/>
            <a:ext cx="30933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Понятность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67319" y="2012042"/>
            <a:ext cx="30933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команды входят в СКИ исполнителя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975" y="2922358"/>
            <a:ext cx="3414174" cy="1172936"/>
          </a:xfrm>
          <a:prstGeom prst="roundRect">
            <a:avLst>
              <a:gd name="adj" fmla="val 839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443" y="3127828"/>
            <a:ext cx="30933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Конечность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1443" y="3445328"/>
            <a:ext cx="30933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Завершается за конечное число шагов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8899" y="2922358"/>
            <a:ext cx="3414202" cy="1172936"/>
          </a:xfrm>
          <a:prstGeom prst="roundRect">
            <a:avLst>
              <a:gd name="adj" fmla="val 839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4367" y="3127828"/>
            <a:ext cx="30933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Результативность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94367" y="3445328"/>
            <a:ext cx="309336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завершении есть результат или сообщение о невозможности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61851" y="2922358"/>
            <a:ext cx="3414174" cy="1172936"/>
          </a:xfrm>
          <a:prstGeom prst="roundRect">
            <a:avLst>
              <a:gd name="adj" fmla="val 839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7319" y="3127828"/>
            <a:ext cx="30933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Массовость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67319" y="3445328"/>
            <a:ext cx="309333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Применим к классу входных данных, а не к одному набору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2800" y="4352469"/>
            <a:ext cx="10883393" cy="28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Проверяйте по этому списку любое своё решение до того, как открыть редактор.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52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66401" y="623825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Нарушения свойств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36700"/>
          <a:ext cx="10566401" cy="3245984"/>
        </p:xfrm>
        <a:graphic>
          <a:graphicData uri="http://schemas.openxmlformats.org/drawingml/2006/table">
            <a:tbl>
              <a:tblPr/>
              <a:tblGrid>
                <a:gridCol w="5283200"/>
                <a:gridCol w="5283200"/>
              </a:tblGrid>
              <a:tr h="54099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Инструкция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Какое свойство нарушено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</a:tr>
              <a:tr h="54099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«Плавно увеличивай скорость»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851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Дискретность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99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«Возьми любое число»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851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Детерминированность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99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«Соль по вкусу», «жарить до корочки»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851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Детерминированность, понятность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99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while True: без выхода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851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Конечность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99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«Реши уравнение 2x + 4 = 0»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851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Массовость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100182"/>
            <a:ext cx="10883393" cy="54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случай — обращение к случайности: </a:t>
            </a: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random.randint(1, 6)</a:t>
            </a: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формально нарушает детерминированность. Такие алгоритмы выделяют в класс вероятностных.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52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66401" y="623825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99004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Проблема остановки · А. Тьюринг, 1936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527300"/>
            <a:ext cx="10883393" cy="1488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существует алгоритма, который для произвольной программы и произвольных входных данных определит, завершится она или зациклится.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4269724"/>
            <a:ext cx="10883393" cy="614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Следствие для вас: конечность цикла проверить механически нельзя. За неё отвечает программист, а не компилятор и не IDE.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базовые конструкции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36700"/>
            <a:ext cx="10883393" cy="614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Теорема Бёма — Якопини, 1966.</a:t>
            </a:r>
            <a:r>
              <a: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Любой алгоритм можно записать, используя только следование, ветвление и цикл. На этом стоит структурное программирование и запрет на goto.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2433923"/>
            <a:ext cx="3397250" cy="1951406"/>
          </a:xfrm>
          <a:prstGeom prst="roundRect">
            <a:avLst>
              <a:gd name="adj" fmla="val 504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690192"/>
            <a:ext cx="297125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2243" y="3035616"/>
            <a:ext cx="2971256" cy="284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Следование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2243" y="3408989"/>
            <a:ext cx="2971256" cy="50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Шаги выполняются один за другим. Линейный алгоритм.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97375" y="2433923"/>
            <a:ext cx="3397250" cy="1951406"/>
          </a:xfrm>
          <a:prstGeom prst="roundRect">
            <a:avLst>
              <a:gd name="adj" fmla="val 504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3643" y="2690192"/>
            <a:ext cx="297125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53643" y="3035616"/>
            <a:ext cx="2971256" cy="284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Ветвление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53643" y="3408989"/>
            <a:ext cx="2971256" cy="50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условию выполняется одна из ветвей. Разветвляющийся алгоритм.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78775" y="2433923"/>
            <a:ext cx="3397250" cy="1951406"/>
          </a:xfrm>
          <a:prstGeom prst="roundRect">
            <a:avLst>
              <a:gd name="adj" fmla="val 504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5043" y="2690192"/>
            <a:ext cx="297125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35043" y="3035616"/>
            <a:ext cx="2971256" cy="284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Повторение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35043" y="3408989"/>
            <a:ext cx="2971256" cy="745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шагов повторяется, пока выполняется условие. Циклический алгоритм.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12800" y="4693307"/>
            <a:ext cx="10883393" cy="28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Четвёртый вид — вспомогательный алгоритм (функция): не новая конструкция, а способ декомпозиции.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55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01" y="6238255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6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Линейный алгоритм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36706"/>
            <a:ext cx="10883393" cy="614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Шаги выполняются один за другим, ни один не пропускается и не повторяется. Порядок записи совпадает с порядком выполнения.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2433923"/>
            <a:ext cx="5175250" cy="1924730"/>
          </a:xfrm>
          <a:prstGeom prst="roundRect">
            <a:avLst>
              <a:gd name="adj" fmla="val 511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690192"/>
            <a:ext cx="48025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Словами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2243" y="3045792"/>
            <a:ext cx="4802596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Ввести длину a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Ввести ширину b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Вычислить S = a · b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Вывести 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00775" y="2433923"/>
            <a:ext cx="5175250" cy="1924730"/>
          </a:xfrm>
          <a:prstGeom prst="roundRect">
            <a:avLst>
              <a:gd name="adj" fmla="val 511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043" y="2690192"/>
            <a:ext cx="48025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57043" y="3045792"/>
            <a:ext cx="4802596" cy="1081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float(input())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float(input())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a * b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4666630"/>
            <a:ext cx="10883393" cy="28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любая реальная программа начинается с линейного участка: ввод данных и их подготовка.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55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66401" y="6238255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Разветвляющийся алгоритм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11300"/>
            <a:ext cx="10883393" cy="614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зависимости от условия выполняется одна из ветвей. Ветви обязательно сходятся: у конструкции один вход и один выход.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2383117"/>
            <a:ext cx="3414174" cy="1543135"/>
          </a:xfrm>
          <a:prstGeom prst="roundRect">
            <a:avLst>
              <a:gd name="adj" fmla="val 637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843" y="2613986"/>
            <a:ext cx="3041012" cy="24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Неполное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46843" y="2923859"/>
            <a:ext cx="3041012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46843" y="3250884"/>
            <a:ext cx="304101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 выполняется или пропускается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8899" y="2383117"/>
            <a:ext cx="3414202" cy="1543135"/>
          </a:xfrm>
          <a:prstGeom prst="roundRect">
            <a:avLst>
              <a:gd name="adj" fmla="val 637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9767" y="2613986"/>
            <a:ext cx="3041041" cy="24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19767" y="2923859"/>
            <a:ext cx="304104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else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9767" y="3250884"/>
            <a:ext cx="30410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Выполняется ровно одна из двух ветвей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61851" y="2383117"/>
            <a:ext cx="3414174" cy="1543135"/>
          </a:xfrm>
          <a:prstGeom prst="roundRect">
            <a:avLst>
              <a:gd name="adj" fmla="val 637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2719" y="2613986"/>
            <a:ext cx="3041012" cy="24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Множественный выбор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92719" y="2923859"/>
            <a:ext cx="3041012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/ match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92719" y="3250884"/>
            <a:ext cx="304101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ветвь из нескольких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5975" y="4212003"/>
            <a:ext cx="10560051" cy="1518330"/>
          </a:xfrm>
          <a:prstGeom prst="roundRect">
            <a:avLst>
              <a:gd name="adj" fmla="val 648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843" y="4442873"/>
            <a:ext cx="10401264" cy="1081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&gt;= 0: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y = x ** 0.5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print("Корень из отрицательного числа не определён")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49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66401" y="6238249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Циклический алгоритм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11300"/>
            <a:ext cx="10883393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 цикла, условие продолжения и параметр — три вещи, которые нужно назвать до того, как писать код.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066925"/>
          <a:ext cx="10566401" cy="2786261"/>
        </p:xfrm>
        <a:graphic>
          <a:graphicData uri="http://schemas.openxmlformats.org/drawingml/2006/table">
            <a:tbl>
              <a:tblPr/>
              <a:tblGrid>
                <a:gridCol w="2641600"/>
                <a:gridCol w="2641600"/>
                <a:gridCol w="2641600"/>
                <a:gridCol w="2641600"/>
              </a:tblGrid>
              <a:tr h="5232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 цикла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Когда проверяется условие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</a:tr>
              <a:tr h="75434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 предусловием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тела; тело может не выполниться ни разу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while cond: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cond { }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4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 постусловием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 тела; тело выполнится минимум один раз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299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while True + break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{ ... break }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4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 параметром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Число повторений известно заранее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i in range(n):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i := 0; i &lt; n; i++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145286"/>
            <a:ext cx="10883393" cy="28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Go одно ключевое слово </a:t>
            </a: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покрывает все три случая, в Python отдельного цикла с постусловием нет — его эмулируют.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9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1" y="6238249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Вспомогательный и рекурсивный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514475"/>
            <a:ext cx="5175250" cy="2746715"/>
          </a:xfrm>
          <a:prstGeom prst="roundRect">
            <a:avLst>
              <a:gd name="adj" fmla="val 358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243" y="1770738"/>
            <a:ext cx="4802596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Вспомогательный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2243" y="2128862"/>
            <a:ext cx="4802596" cy="771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Самостоятельный алгоритм, вызываемый из другого по имени. Даёт декомпозицию: большая задача разбивается на подзадачи, каждая решается и проверяется отдельно.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72243" y="2988921"/>
            <a:ext cx="4802596" cy="52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блок-схеме обозначается символом «предопределённый процесс».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00775" y="1514475"/>
            <a:ext cx="5175250" cy="2746715"/>
          </a:xfrm>
          <a:prstGeom prst="roundRect">
            <a:avLst>
              <a:gd name="adj" fmla="val 358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043" y="1770738"/>
            <a:ext cx="4802596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Рекурсивный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7043" y="2128862"/>
            <a:ext cx="4802596" cy="771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Вызывает сам себя на меньших данных. Обязательны база рекурсии и шаг, уменьшающий задачу, иначе нарушается конечность.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57043" y="2988921"/>
            <a:ext cx="4802596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factorial(n):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n &lt;= 1: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return 1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n * factorial(n - 1)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2800" y="4543766"/>
            <a:ext cx="10883393" cy="54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практике любая программа — комбинация всех четырёх видов: линейный ввод, ветвление на проверке данных, цикл обработки, вызовы функций.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9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66401" y="6238249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классификации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9075"/>
            <a:ext cx="3414174" cy="2514373"/>
          </a:xfrm>
          <a:prstGeom prst="roundRect">
            <a:avLst>
              <a:gd name="adj" fmla="val 391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843" y="1719938"/>
            <a:ext cx="30410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характеру задачи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6843" y="2050138"/>
            <a:ext cx="3041012" cy="150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Вычислительные</a:t>
            </a:r>
            <a:endParaRPr lang="en-US" sz="1250" dirty="0"/>
          </a:p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250" dirty="0"/>
          </a:p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</a:t>
            </a:r>
            <a:endParaRPr lang="en-US" sz="1250" dirty="0"/>
          </a:p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 на графах</a:t>
            </a:r>
            <a:endParaRPr lang="en-US" sz="1250" dirty="0"/>
          </a:p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данных</a:t>
            </a:r>
            <a:endParaRPr lang="en-US" sz="1250" dirty="0"/>
          </a:p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Управляющие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8899" y="1489075"/>
            <a:ext cx="3414202" cy="2514373"/>
          </a:xfrm>
          <a:prstGeom prst="roundRect">
            <a:avLst>
              <a:gd name="adj" fmla="val 391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9767" y="1719938"/>
            <a:ext cx="30410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предсказуемости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19767" y="2050138"/>
            <a:ext cx="3041041" cy="1747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Детерминированные</a:t>
            </a:r>
            <a:endParaRPr lang="en-US" sz="1250" dirty="0"/>
          </a:p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Вероятностные: Монте-Карло, тест Миллера — Рабина</a:t>
            </a:r>
            <a:endParaRPr lang="en-US" sz="1250" dirty="0"/>
          </a:p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Точные</a:t>
            </a:r>
            <a:endParaRPr lang="en-US" sz="1250" dirty="0"/>
          </a:p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Приближённые и эвристические: жадные, генетические, машинное обучение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61851" y="1489075"/>
            <a:ext cx="3414174" cy="2514373"/>
          </a:xfrm>
          <a:prstGeom prst="roundRect">
            <a:avLst>
              <a:gd name="adj" fmla="val 391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2719" y="1719938"/>
            <a:ext cx="30410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организации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92719" y="2050138"/>
            <a:ext cx="3041012" cy="125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Последовательные</a:t>
            </a:r>
            <a:endParaRPr lang="en-US" sz="1250" dirty="0"/>
          </a:p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Параллельные: несколько ядер, синхронизация, гонки данных</a:t>
            </a:r>
            <a:endParaRPr lang="en-US" sz="1250" dirty="0"/>
          </a:p>
          <a:p>
            <a:pPr algn="l" marL="342900" indent="-342900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Распределённые: узлы сети, обмен сообщениями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975" y="4263796"/>
            <a:ext cx="10560051" cy="977333"/>
          </a:xfrm>
          <a:prstGeom prst="roundRect">
            <a:avLst>
              <a:gd name="adj" fmla="val 10071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6843" y="4494665"/>
            <a:ext cx="10401264" cy="54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Параллельность нельзя выразить классической блок-схемой: у неё один поток управления. Именно здесь начинает работать UML.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9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66401" y="6238249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способов записи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485894"/>
          <a:ext cx="10566401" cy="4133850"/>
        </p:xfrm>
        <a:graphic>
          <a:graphicData uri="http://schemas.openxmlformats.org/drawingml/2006/table">
            <a:tbl>
              <a:tblPr/>
              <a:tblGrid>
                <a:gridCol w="2641600"/>
                <a:gridCol w="2641600"/>
                <a:gridCol w="2641600"/>
                <a:gridCol w="2641600"/>
              </a:tblGrid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Способ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Кому адресован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Плюс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Минус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Словесный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Человеку, первичное описание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нужна подготовка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Многословен, двусмыслен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Формульно-словесный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расчётных работах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Компактен в вычислениях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Плохо выражает управление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Псевдокод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Программисту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Близок к коду, не привязан к языку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единого стандарта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Графический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Команде, заказчику, в документацию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Виден поток управления целиком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Громоздок для больших задач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Программный код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Исполнителю-машине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Единственный исполнимый вариант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Требует знания языка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Таблица решений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Аналитику, бизнес-логика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Полный перебор комбинаций условий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выражает циклы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9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566401" y="6238249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задача, три записи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85900"/>
            <a:ext cx="108833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наибольшее из двух чисел.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5975" y="2009775"/>
            <a:ext cx="3414174" cy="2686589"/>
          </a:xfrm>
          <a:prstGeom prst="roundRect">
            <a:avLst>
              <a:gd name="adj" fmla="val 366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843" y="2240645"/>
            <a:ext cx="3041012" cy="24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Словесно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46843" y="2575917"/>
            <a:ext cx="304101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Ввести два числа a и b. Если a больше b, вывести a, иначе вывести 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99" y="2009775"/>
            <a:ext cx="3414202" cy="2686589"/>
          </a:xfrm>
          <a:prstGeom prst="roundRect">
            <a:avLst>
              <a:gd name="adj" fmla="val 366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9767" y="2240645"/>
            <a:ext cx="3041041" cy="24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Псевдокод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19767" y="2575917"/>
            <a:ext cx="3041041" cy="1914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НАЧАЛО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ВВОД a, b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ЕСЛИ a &gt; b ТО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ВЫВОД a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ИНАЧЕ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ВЫВОД b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КОНЕЦ ЕСЛИ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КОНЕЦ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61851" y="2009775"/>
            <a:ext cx="3414174" cy="2686589"/>
          </a:xfrm>
          <a:prstGeom prst="roundRect">
            <a:avLst>
              <a:gd name="adj" fmla="val 366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2719" y="2240645"/>
            <a:ext cx="3041012" cy="24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92719" y="2575917"/>
            <a:ext cx="3041012" cy="73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int(input())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int(input())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if a &gt; b else 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4953546"/>
            <a:ext cx="10883393" cy="54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Словесная запись длиннее кода и при этом менее точна. Для двух чисел это терпимо, для алгоритма из сотни шагов — катастрофа. Отсюда и появились графические нотации.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55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66401" y="6238255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25922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154213"/>
            <a:ext cx="10883393" cy="5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Блок-схемы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959385"/>
            <a:ext cx="10883393" cy="651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Графическое представление алгоритма: шаги изображены геометрическими фигурами, порядок выполнения — линиями со стрелками.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5975" y="3868068"/>
            <a:ext cx="10560051" cy="1360856"/>
          </a:xfrm>
          <a:prstGeom prst="roundRect">
            <a:avLst>
              <a:gd name="adj" fmla="val 7233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2243" y="4124325"/>
            <a:ext cx="10348940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 19.701-90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2243" y="4457055"/>
            <a:ext cx="10348940" cy="54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ЕСПД. Схемы алгоритмов, программ, данных и систем. Условные обозначения и правила выполнения. Полностью соответствует международному ISO 5807:1985. Пришёл на смену ГОСТ 19.002-80 и ГОСТ 19.003-80.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символы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2520950" cy="1663105"/>
          </a:xfrm>
          <a:prstGeom prst="roundRect">
            <a:avLst>
              <a:gd name="adj" fmla="val 591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4" name="Image 0" descr="Овал со скруглёнными краями — символ терминатор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043" y="1643745"/>
            <a:ext cx="1143000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6043" y="2240645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Терминатор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96043" y="2535275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 и конец алгоритма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95675" y="1463675"/>
            <a:ext cx="2520950" cy="1663105"/>
          </a:xfrm>
          <a:prstGeom prst="roundRect">
            <a:avLst>
              <a:gd name="adj" fmla="val 591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8" name="Image 1" descr="Прямоугольник — символ процесса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75743" y="1643745"/>
            <a:ext cx="1143000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5743" y="2240645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675743" y="2535275"/>
            <a:ext cx="2225639" cy="436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Вычисление, присваивание, обработка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5375" y="1463675"/>
            <a:ext cx="2520950" cy="1663105"/>
          </a:xfrm>
          <a:prstGeom prst="roundRect">
            <a:avLst>
              <a:gd name="adj" fmla="val 591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12" name="Image 2" descr="Ромб — символ решения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55443" y="1643745"/>
            <a:ext cx="1143000" cy="508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55443" y="2240645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355443" y="2535275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условия, два выхода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855076" y="1463675"/>
            <a:ext cx="2520950" cy="1663105"/>
          </a:xfrm>
          <a:prstGeom prst="roundRect">
            <a:avLst>
              <a:gd name="adj" fmla="val 591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16" name="Image 3" descr="Параллелограмм — символ данных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35143" y="1643745"/>
            <a:ext cx="1143000" cy="508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35143" y="2240645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9035143" y="2535275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и вывод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15975" y="3361730"/>
            <a:ext cx="2520950" cy="1663105"/>
          </a:xfrm>
          <a:prstGeom prst="roundRect">
            <a:avLst>
              <a:gd name="adj" fmla="val 591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20" name="Image 4" descr="Шестиугольник — символ подготовки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6043" y="3541799"/>
            <a:ext cx="1143000" cy="5080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96043" y="4138699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996043" y="4433329"/>
            <a:ext cx="2225639" cy="436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 цикла с параметром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495675" y="3361730"/>
            <a:ext cx="2520950" cy="1663105"/>
          </a:xfrm>
          <a:prstGeom prst="roundRect">
            <a:avLst>
              <a:gd name="adj" fmla="val 591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24" name="Image 5" descr="Прямоугольник с двойными боковыми линиями — предопределённый процесс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675743" y="3541799"/>
            <a:ext cx="1143000" cy="5080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75743" y="4138699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Подпрограмма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3675743" y="4433329"/>
            <a:ext cx="2225639" cy="436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 вспомогательного алгоритма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175375" y="3361730"/>
            <a:ext cx="2520950" cy="1663105"/>
          </a:xfrm>
          <a:prstGeom prst="roundRect">
            <a:avLst>
              <a:gd name="adj" fmla="val 591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28" name="Image 6" descr="Прямоугольник со срезанными верхними углами — граница цикла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55443" y="3541799"/>
            <a:ext cx="1143000" cy="5080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55443" y="4138699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цикла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6355443" y="4433329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 и конец цикла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855076" y="3361730"/>
            <a:ext cx="2520950" cy="1663105"/>
          </a:xfrm>
          <a:prstGeom prst="roundRect">
            <a:avLst>
              <a:gd name="adj" fmla="val 591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32" name="Image 7" descr="Круг — символ соединителя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35143" y="3541799"/>
            <a:ext cx="1143000" cy="5080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35143" y="4138699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Соединитель</a:t>
            </a:r>
            <a:endParaRPr lang="en-US" sz="1350" dirty="0"/>
          </a:p>
        </p:txBody>
      </p:sp>
      <p:sp>
        <p:nvSpPr>
          <p:cNvPr id="34" name="Text 24"/>
          <p:cNvSpPr/>
          <p:nvPr/>
        </p:nvSpPr>
        <p:spPr>
          <a:xfrm>
            <a:off x="9035143" y="4433329"/>
            <a:ext cx="222563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линии на странице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812800" y="6238255"/>
            <a:ext cx="78486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в стандарте: документ, межстраничный соединитель, комментарий, ручной ввод, дисплей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10566401" y="6238255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построения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514475"/>
            <a:ext cx="5175250" cy="3331936"/>
          </a:xfrm>
          <a:prstGeom prst="roundRect">
            <a:avLst>
              <a:gd name="adj" fmla="val 295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243" y="1770745"/>
            <a:ext cx="48025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Оформление по ГОСТ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2243" y="2113645"/>
            <a:ext cx="4802596" cy="2501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Сторона a кратна 5 мм, высота b = 1,5a; размеры одинаковы по всей схеме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Основное направление потока — сверху вниз и слева направо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Линии вверх или справа налево — обязательно со стрелками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Пересечения под прямым углом, слияние обозначается точкой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Выходы решения подписаны: «да» / «нет»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Символы нумеруются для ссылок из текста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00775" y="1514475"/>
            <a:ext cx="5175250" cy="3331936"/>
          </a:xfrm>
          <a:prstGeom prst="roundRect">
            <a:avLst>
              <a:gd name="adj" fmla="val 295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043" y="1770745"/>
            <a:ext cx="48025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57043" y="2113645"/>
            <a:ext cx="4802596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схема — один алгоритм или одна подпрограмма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каждой конструкции один вход и один выход, ветви сходятся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блоке — действие, а не строка кода на Python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детализации одинаков по всей схеме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умещается на страницу — выделяйте подпрограмму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5128989"/>
            <a:ext cx="10883393" cy="54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готовой схемы — трассировка: пройдите по ней вручную с конкретными числами, ведя таблицу значений переменных по шагам.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55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66401" y="6238255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Ветвление: наибольшее из двух чисел</a:t>
            </a:r>
            <a:endParaRPr lang="en-US" sz="2800" dirty="0"/>
          </a:p>
        </p:txBody>
      </p:sp>
      <p:pic>
        <p:nvPicPr>
          <p:cNvPr id="3" name="Image 0" descr="Блок-схема: начало, ввод a и b, проверка a больше b, две ветви присваивания max, вывод max, конец">    </p:cNvPr>
          <p:cNvPicPr>
            <a:picLocks noChangeAspect="1"/>
          </p:cNvPicPr>
          <p:nvPr/>
        </p:nvPicPr>
        <p:blipFill>
          <a:blip r:embed="rId1"/>
          <a:srcRect l="-27" r="-27" t="0" b="0"/>
          <a:stretch/>
        </p:blipFill>
        <p:spPr>
          <a:xfrm>
            <a:off x="812800" y="1323330"/>
            <a:ext cx="10566401" cy="444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87900" y="1488430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87900" y="2199630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a, b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87900" y="3037830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&gt; b 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917700" y="3952230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= 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58100" y="3952230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= b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87900" y="4663430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max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87900" y="5374630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</a:t>
            </a:r>
            <a:endParaRPr lang="en-US" sz="1300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1755130"/>
            <a:ext cx="101600" cy="381000"/>
          </a:xfrm>
          <a:prstGeom prst="rect">
            <a:avLst/>
          </a:prstGeom>
        </p:spPr>
      </p:pic>
      <p:pic>
        <p:nvPicPr>
          <p:cNvPr id="12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45200" y="2466330"/>
            <a:ext cx="101600" cy="381000"/>
          </a:xfrm>
          <a:prstGeom prst="rect">
            <a:avLst/>
          </a:prstGeom>
        </p:spPr>
      </p:pic>
      <p:pic>
        <p:nvPicPr>
          <p:cNvPr id="13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175000" y="3088630"/>
            <a:ext cx="1701800" cy="800100"/>
          </a:xfrm>
          <a:prstGeom prst="rect">
            <a:avLst/>
          </a:prstGeom>
        </p:spPr>
      </p:pic>
      <p:pic>
        <p:nvPicPr>
          <p:cNvPr id="14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15200" y="3088630"/>
            <a:ext cx="1701800" cy="800100"/>
          </a:xfrm>
          <a:prstGeom prst="rect">
            <a:avLst/>
          </a:prstGeom>
        </p:spPr>
      </p:pic>
      <p:pic>
        <p:nvPicPr>
          <p:cNvPr id="15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175000" y="4218930"/>
            <a:ext cx="1828800" cy="596900"/>
          </a:xfrm>
          <a:prstGeom prst="rect">
            <a:avLst/>
          </a:prstGeom>
        </p:spPr>
      </p:pic>
      <p:pic>
        <p:nvPicPr>
          <p:cNvPr id="16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188200" y="4218930"/>
            <a:ext cx="1828800" cy="596900"/>
          </a:xfrm>
          <a:prstGeom prst="rect">
            <a:avLst/>
          </a:prstGeom>
        </p:spPr>
      </p:pic>
      <p:pic>
        <p:nvPicPr>
          <p:cNvPr id="17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045200" y="4930130"/>
            <a:ext cx="101600" cy="3810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3771900" y="3215630"/>
            <a:ext cx="558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00" dirty="0"/>
          </a:p>
        </p:txBody>
      </p:sp>
      <p:sp>
        <p:nvSpPr>
          <p:cNvPr id="19" name="Text 9"/>
          <p:cNvSpPr/>
          <p:nvPr/>
        </p:nvSpPr>
        <p:spPr>
          <a:xfrm>
            <a:off x="7823200" y="3215630"/>
            <a:ext cx="6223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812800" y="6238255"/>
            <a:ext cx="850265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ветви сходятся в блоке вывода — у конструкции один вход и один выход, терминатор «конец» один</a:t>
            </a:r>
            <a:endParaRPr lang="en-US" sz="1200" dirty="0"/>
          </a:p>
        </p:txBody>
      </p:sp>
      <p:sp>
        <p:nvSpPr>
          <p:cNvPr id="21" name="Text 11"/>
          <p:cNvSpPr/>
          <p:nvPr/>
        </p:nvSpPr>
        <p:spPr>
          <a:xfrm>
            <a:off x="10566401" y="6238255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Цикл: сумма чисел от 1 до N</a:t>
            </a:r>
            <a:endParaRPr lang="en-US" sz="2800" dirty="0"/>
          </a:p>
        </p:txBody>
      </p:sp>
      <p:pic>
        <p:nvPicPr>
          <p:cNvPr id="3" name="Image 0" descr="Блок-схема цикла: начало, ввод N, инициализация суммы и счётчика, проверка i меньше или равно N, тело цикла с возвратом, вывод суммы, конец">    </p:cNvPr>
          <p:cNvPicPr>
            <a:picLocks noChangeAspect="1"/>
          </p:cNvPicPr>
          <p:nvPr/>
        </p:nvPicPr>
        <p:blipFill>
          <a:blip r:embed="rId1"/>
          <a:srcRect l="-27" r="-27" t="0" b="0"/>
          <a:stretch/>
        </p:blipFill>
        <p:spPr>
          <a:xfrm>
            <a:off x="812800" y="1323318"/>
            <a:ext cx="10566401" cy="444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52900" y="1488418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52900" y="2199618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52900" y="2910818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0;  i =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52900" y="3749018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&lt;= N 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52900" y="4587218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S + i;  i = i + 1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13700" y="3749018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13700" y="4739618"/>
            <a:ext cx="2616200" cy="22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9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</a:t>
            </a:r>
            <a:endParaRPr lang="en-US" sz="1300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10200" y="1755118"/>
            <a:ext cx="101600" cy="381000"/>
          </a:xfrm>
          <a:prstGeom prst="rect">
            <a:avLst/>
          </a:prstGeom>
        </p:spPr>
      </p:pic>
      <p:pic>
        <p:nvPicPr>
          <p:cNvPr id="12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10200" y="2466318"/>
            <a:ext cx="101600" cy="381000"/>
          </a:xfrm>
          <a:prstGeom prst="rect">
            <a:avLst/>
          </a:prstGeom>
        </p:spPr>
      </p:pic>
      <p:pic>
        <p:nvPicPr>
          <p:cNvPr id="13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10200" y="3177518"/>
            <a:ext cx="101600" cy="381000"/>
          </a:xfrm>
          <a:prstGeom prst="rect">
            <a:avLst/>
          </a:prstGeom>
        </p:spPr>
      </p:pic>
      <p:pic>
        <p:nvPicPr>
          <p:cNvPr id="14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10200" y="4142718"/>
            <a:ext cx="101600" cy="381000"/>
          </a:xfrm>
          <a:prstGeom prst="rect">
            <a:avLst/>
          </a:prstGeom>
        </p:spPr>
      </p:pic>
      <p:pic>
        <p:nvPicPr>
          <p:cNvPr id="15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680200" y="3799818"/>
            <a:ext cx="1549400" cy="101600"/>
          </a:xfrm>
          <a:prstGeom prst="rect">
            <a:avLst/>
          </a:prstGeom>
        </p:spPr>
      </p:pic>
      <p:pic>
        <p:nvPicPr>
          <p:cNvPr id="16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271001" y="4015718"/>
            <a:ext cx="101600" cy="660400"/>
          </a:xfrm>
          <a:prstGeom prst="rect">
            <a:avLst/>
          </a:prstGeom>
        </p:spPr>
      </p:pic>
      <p:pic>
        <p:nvPicPr>
          <p:cNvPr id="17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921000" y="4638018"/>
            <a:ext cx="1320800" cy="101600"/>
          </a:xfrm>
          <a:prstGeom prst="rect">
            <a:avLst/>
          </a:prstGeom>
        </p:spPr>
      </p:pic>
      <p:pic>
        <p:nvPicPr>
          <p:cNvPr id="18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921000" y="3799818"/>
            <a:ext cx="101600" cy="939800"/>
          </a:xfrm>
          <a:prstGeom prst="rect">
            <a:avLst/>
          </a:prstGeom>
        </p:spPr>
      </p:pic>
      <p:pic>
        <p:nvPicPr>
          <p:cNvPr id="19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921000" y="3799818"/>
            <a:ext cx="1320800" cy="10160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5588000" y="4231618"/>
            <a:ext cx="558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7010400" y="3558518"/>
            <a:ext cx="6223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22" name="Text 10"/>
          <p:cNvSpPr/>
          <p:nvPr/>
        </p:nvSpPr>
        <p:spPr>
          <a:xfrm>
            <a:off x="812800" y="6238242"/>
            <a:ext cx="850265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Синяя линия — обратная связь цикла: она идёт вверх, поэтому стрелка на ней обязательна</a:t>
            </a: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10566401" y="623824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на защите лабораторных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485900"/>
          <a:ext cx="10566401" cy="3708400"/>
        </p:xfrm>
        <a:graphic>
          <a:graphicData uri="http://schemas.openxmlformats.org/drawingml/2006/table">
            <a:tbl>
              <a:tblPr/>
              <a:tblGrid>
                <a:gridCol w="3522134"/>
                <a:gridCol w="3522134"/>
                <a:gridCol w="3522134"/>
              </a:tblGrid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Ошибка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Почему плохо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правильно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Ромб с одним выходом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Условие ничего не решает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Два выхода: «да» и «нет»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Выходы ромба не подписаны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Схема читается двояко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Подписать каждую ветвь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Несколько блоков «конец»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Нарушен принцип одного выхода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Свести ветви в один терминатор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Ввод-вывод в прямоугольнике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Смешаны обработка и обмен данными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Параллелограмм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Стрелка входит в блок сбоку или снизу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Направление потока неочевидно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Вход сверху, выход снизу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Цикл без изменения параметра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Бесконечный цикл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Блок изменения счётчика в теле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Условие записано как процесс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Потерян смысл проверки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Ромб или блок границы цикла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2"/>
            <a:ext cx="850265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перед сдачей: трассировка схемы с конкретными числами и таблицей значений переменных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566401" y="623824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257573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760475"/>
            <a:ext cx="10883393" cy="5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540248"/>
            <a:ext cx="10883393" cy="651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Modeling Language — стандартизированный графический язык для описания, проектирования и документирования программных систем.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420343"/>
            <a:ext cx="108833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Блок-схема описывает один алгоритм. UML описывает систему целиком: её структуру, поведение, взаимодействие и развёртывание.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5975" y="4229968"/>
            <a:ext cx="3414174" cy="1367234"/>
          </a:xfrm>
          <a:prstGeom prst="roundRect">
            <a:avLst>
              <a:gd name="adj" fmla="val 7199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443" y="4435438"/>
            <a:ext cx="3093336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1994–1997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1443" y="4724995"/>
            <a:ext cx="3093336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Буч, Рамбо и Якобсон в Rational Software объединяют три нотации; UML 1.1 принят OMG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8899" y="4229968"/>
            <a:ext cx="3414202" cy="1367234"/>
          </a:xfrm>
          <a:prstGeom prst="roundRect">
            <a:avLst>
              <a:gd name="adj" fmla="val 7199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4367" y="4435438"/>
            <a:ext cx="3093365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4367" y="4724995"/>
            <a:ext cx="309336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2.0: диаграмм становится 13, позже 14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61851" y="4229968"/>
            <a:ext cx="3414174" cy="1367234"/>
          </a:xfrm>
          <a:prstGeom prst="roundRect">
            <a:avLst>
              <a:gd name="adj" fmla="val 7199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7319" y="4435438"/>
            <a:ext cx="3093336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67319" y="4724995"/>
            <a:ext cx="309333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2.5.1 — текущая версия; стандарт ISO/IEC 19505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Четырнадцать типов диаграмм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9075"/>
            <a:ext cx="5175250" cy="2998504"/>
          </a:xfrm>
          <a:prstGeom prst="roundRect">
            <a:avLst>
              <a:gd name="adj" fmla="val 328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243" y="1745332"/>
            <a:ext cx="4802596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Структурные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2243" y="2103462"/>
            <a:ext cx="48025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система есть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72243" y="2440012"/>
            <a:ext cx="4802596" cy="181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Объектов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Компонентов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Композитной структуры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Развёртывания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Пакетов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Профилей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0775" y="1489075"/>
            <a:ext cx="5175250" cy="2998504"/>
          </a:xfrm>
          <a:prstGeom prst="roundRect">
            <a:avLst>
              <a:gd name="adj" fmla="val 328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043" y="1745332"/>
            <a:ext cx="4802596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7043" y="2103462"/>
            <a:ext cx="48025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система делает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57043" y="2440012"/>
            <a:ext cx="4802596" cy="181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Вариантов использования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Деятельности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Состояний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Последовательности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Коммуникации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Обзора взаимодействия</a:t>
            </a:r>
            <a:endParaRPr lang="en-US" sz="1300" dirty="0"/>
          </a:p>
          <a:p>
            <a:pPr algn="l" marL="342900" indent="-342900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Синхронизации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4744752"/>
            <a:ext cx="10883393" cy="54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Последние четыре объединяют в группу диаграмм взаимодействия. На практике используют пять-шесть типов из четырнадцати.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2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66401" y="623824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деятельности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85900"/>
            <a:ext cx="108833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Описывает поток работ или алгоритм: последовательность действий, ветвления, параллельные потоки. Ближайший родственник блок-схемы и её замена в проектной документации.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5975" y="2295525"/>
            <a:ext cx="2005324" cy="1566579"/>
          </a:xfrm>
          <a:prstGeom prst="roundRect">
            <a:avLst>
              <a:gd name="adj" fmla="val 628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5" name="Image 0" descr="Закрашенный круг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043" y="2475582"/>
            <a:ext cx="889000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6043" y="2996282"/>
            <a:ext cx="1695989" cy="22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Начальный узел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96043" y="3270585"/>
            <a:ext cx="1695989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входа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54649" y="2295525"/>
            <a:ext cx="2005353" cy="1566579"/>
          </a:xfrm>
          <a:prstGeom prst="roundRect">
            <a:avLst>
              <a:gd name="adj" fmla="val 628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9" name="Image 1" descr="Прямоугольник со скруглёнными углами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34717" y="2475582"/>
            <a:ext cx="889000" cy="444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34717" y="2996282"/>
            <a:ext cx="1696017" cy="22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134717" y="3270585"/>
            <a:ext cx="1696017" cy="436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работы любого масштаба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93352" y="2295525"/>
            <a:ext cx="2005324" cy="1566579"/>
          </a:xfrm>
          <a:prstGeom prst="roundRect">
            <a:avLst>
              <a:gd name="adj" fmla="val 628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13" name="Image 2" descr="Ромб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73420" y="2475582"/>
            <a:ext cx="889000" cy="444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73420" y="2996282"/>
            <a:ext cx="1695989" cy="22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и слияние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273420" y="3270585"/>
            <a:ext cx="1695989" cy="436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 в квадратных скобках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32027" y="2295525"/>
            <a:ext cx="2005324" cy="1566579"/>
          </a:xfrm>
          <a:prstGeom prst="roundRect">
            <a:avLst>
              <a:gd name="adj" fmla="val 628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17" name="Image 3" descr="Жирная горизонтальная черта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12095" y="2475582"/>
            <a:ext cx="889000" cy="444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12095" y="2996282"/>
            <a:ext cx="1695989" cy="22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и join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412095" y="3270585"/>
            <a:ext cx="1695989" cy="436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и ожидание параллельных потоков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370701" y="2295525"/>
            <a:ext cx="2005324" cy="1566579"/>
          </a:xfrm>
          <a:prstGeom prst="roundRect">
            <a:avLst>
              <a:gd name="adj" fmla="val 628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21" name="Image 4" descr="Круг в кольце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50769" y="2475582"/>
            <a:ext cx="889000" cy="4445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50769" y="2996282"/>
            <a:ext cx="1695989" cy="22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Конечный узел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550769" y="3270585"/>
            <a:ext cx="1695989" cy="436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Завершение деятельности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12800" y="4119277"/>
            <a:ext cx="10883393" cy="54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два элемента: </a:t>
            </a: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дорожки</a:t>
            </a: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(swimlanes) показывают, кто выполняет действие, </a:t>
            </a: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объектные узлы</a:t>
            </a: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какие данные передаются между действиями.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12800" y="6238242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566401" y="623824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оформление заказа</a:t>
            </a:r>
            <a:endParaRPr lang="en-US" sz="2800" dirty="0"/>
          </a:p>
        </p:txBody>
      </p:sp>
      <p:pic>
        <p:nvPicPr>
          <p:cNvPr id="3" name="Image 0" descr="Диаграмма деятельности: оформить корзину, проверка наличия товара, отказ или приём оплаты, затем параллельно отправка чека и формирование посылки, завершение">    </p:cNvPr>
          <p:cNvPicPr>
            <a:picLocks noChangeAspect="1"/>
          </p:cNvPicPr>
          <p:nvPr/>
        </p:nvPicPr>
        <p:blipFill>
          <a:blip r:embed="rId1"/>
          <a:srcRect l="-27" r="-27" t="0" b="0"/>
          <a:stretch/>
        </p:blipFill>
        <p:spPr>
          <a:xfrm>
            <a:off x="812800" y="1323318"/>
            <a:ext cx="10566401" cy="444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6215" y="1939268"/>
            <a:ext cx="2223770" cy="241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3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Оформить корзину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262120" y="1939268"/>
            <a:ext cx="2092960" cy="241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3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 есть?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128510" y="1939268"/>
            <a:ext cx="2354580" cy="241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3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Сообщить об отказе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62120" y="3031468"/>
            <a:ext cx="2092960" cy="241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3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 оплату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97225" y="4301468"/>
            <a:ext cx="1962150" cy="241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3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Отправить чек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79415" y="4301468"/>
            <a:ext cx="2223770" cy="241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3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посылку</a:t>
            </a:r>
            <a:endParaRPr lang="en-US" sz="1300" dirty="0"/>
          </a:p>
        </p:txBody>
      </p:sp>
      <p:pic>
        <p:nvPicPr>
          <p:cNvPr id="1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93800" y="1996418"/>
            <a:ext cx="355600" cy="101600"/>
          </a:xfrm>
          <a:prstGeom prst="rect">
            <a:avLst/>
          </a:prstGeom>
        </p:spPr>
      </p:pic>
      <p:pic>
        <p:nvPicPr>
          <p:cNvPr id="1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06800" y="1996418"/>
            <a:ext cx="736600" cy="101600"/>
          </a:xfrm>
          <a:prstGeom prst="rect">
            <a:avLst/>
          </a:prstGeom>
        </p:spPr>
      </p:pic>
      <p:pic>
        <p:nvPicPr>
          <p:cNvPr id="1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73800" y="1996418"/>
            <a:ext cx="939800" cy="101600"/>
          </a:xfrm>
          <a:prstGeom prst="rect">
            <a:avLst/>
          </a:prstGeom>
        </p:spPr>
      </p:pic>
      <p:pic>
        <p:nvPicPr>
          <p:cNvPr id="13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257800" y="2313918"/>
            <a:ext cx="101600" cy="647700"/>
          </a:xfrm>
          <a:prstGeom prst="rect">
            <a:avLst/>
          </a:prstGeom>
        </p:spPr>
      </p:pic>
      <p:pic>
        <p:nvPicPr>
          <p:cNvPr id="14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257800" y="3317218"/>
            <a:ext cx="101600" cy="533400"/>
          </a:xfrm>
          <a:prstGeom prst="rect">
            <a:avLst/>
          </a:prstGeom>
        </p:spPr>
      </p:pic>
      <p:pic>
        <p:nvPicPr>
          <p:cNvPr id="15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127500" y="3825218"/>
            <a:ext cx="101600" cy="406400"/>
          </a:xfrm>
          <a:prstGeom prst="rect">
            <a:avLst/>
          </a:prstGeom>
        </p:spPr>
      </p:pic>
      <p:pic>
        <p:nvPicPr>
          <p:cNvPr id="16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540500" y="3825218"/>
            <a:ext cx="101600" cy="406400"/>
          </a:xfrm>
          <a:prstGeom prst="rect">
            <a:avLst/>
          </a:prstGeom>
        </p:spPr>
      </p:pic>
      <p:pic>
        <p:nvPicPr>
          <p:cNvPr id="17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127500" y="4587218"/>
            <a:ext cx="101600" cy="469900"/>
          </a:xfrm>
          <a:prstGeom prst="rect">
            <a:avLst/>
          </a:prstGeom>
        </p:spPr>
      </p:pic>
      <p:pic>
        <p:nvPicPr>
          <p:cNvPr id="18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40500" y="4587218"/>
            <a:ext cx="101600" cy="469900"/>
          </a:xfrm>
          <a:prstGeom prst="rect">
            <a:avLst/>
          </a:prstGeom>
        </p:spPr>
      </p:pic>
      <p:pic>
        <p:nvPicPr>
          <p:cNvPr id="19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397500" y="5031718"/>
            <a:ext cx="101600" cy="393700"/>
          </a:xfrm>
          <a:prstGeom prst="rect">
            <a:avLst/>
          </a:prstGeom>
        </p:spPr>
      </p:pic>
      <p:pic>
        <p:nvPicPr>
          <p:cNvPr id="20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562600" y="2225018"/>
            <a:ext cx="2794000" cy="336550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464300" y="1742418"/>
            <a:ext cx="6223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5435600" y="2517118"/>
            <a:ext cx="558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7823200" y="3723618"/>
            <a:ext cx="939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7823200" y="4930118"/>
            <a:ext cx="939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1200" dirty="0"/>
          </a:p>
        </p:txBody>
      </p:sp>
      <p:sp>
        <p:nvSpPr>
          <p:cNvPr id="25" name="Text 11"/>
          <p:cNvSpPr/>
          <p:nvPr/>
        </p:nvSpPr>
        <p:spPr>
          <a:xfrm>
            <a:off x="812800" y="6238242"/>
            <a:ext cx="850265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оплаты чек и посылка готовятся одновременно — классическая блок-схема так не умеет</a:t>
            </a:r>
            <a:endParaRPr lang="en-US" sz="1200" dirty="0"/>
          </a:p>
        </p:txBody>
      </p:sp>
      <p:sp>
        <p:nvSpPr>
          <p:cNvPr id="26" name="Text 12"/>
          <p:cNvSpPr/>
          <p:nvPr/>
        </p:nvSpPr>
        <p:spPr>
          <a:xfrm>
            <a:off x="10566401" y="623824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четыре, которые пригодятся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5200650" cy="1387560"/>
          </a:xfrm>
          <a:prstGeom prst="roundRect">
            <a:avLst>
              <a:gd name="adj" fmla="val 709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443" y="1669145"/>
            <a:ext cx="4933406" cy="24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Вариантов использования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021443" y="1979017"/>
            <a:ext cx="4933406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система делает для пользователя. Актёры-человечки, овалы вариантов, отношения include и extend. С неё начинают проектирование: она фиксирует требования.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5375" y="1463675"/>
            <a:ext cx="5200650" cy="1387560"/>
          </a:xfrm>
          <a:prstGeom prst="roundRect">
            <a:avLst>
              <a:gd name="adj" fmla="val 709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0843" y="1669145"/>
            <a:ext cx="4933406" cy="24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80843" y="1979017"/>
            <a:ext cx="4933406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Прямоугольник из трёх секций: имя, атрибуты, методы. Видимость: </a:t>
            </a: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− # ~</a:t>
            </a: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Связи: ассоциация, агрегация, композиция, наследование, реализация.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5975" y="3086187"/>
            <a:ext cx="5200650" cy="1387560"/>
          </a:xfrm>
          <a:prstGeom prst="roundRect">
            <a:avLst>
              <a:gd name="adj" fmla="val 709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1443" y="3291644"/>
            <a:ext cx="4933406" cy="24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Последовательности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21443" y="3601529"/>
            <a:ext cx="4933406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сообщениями во времени: вертикальные линии жизни, время сверху вниз, сообщения — горизонтальные стрелки. Незаменима для связки клиент — сервер — база данных.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5375" y="3086187"/>
            <a:ext cx="5200650" cy="1387560"/>
          </a:xfrm>
          <a:prstGeom prst="roundRect">
            <a:avLst>
              <a:gd name="adj" fmla="val 709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0843" y="3291644"/>
            <a:ext cx="4933406" cy="24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Состояний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80843" y="3601529"/>
            <a:ext cx="4933406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Жизненный цикл объекта: состояния и переходы по событиям. Протоколы, экраны интерфейса, статусы заказа, игровые персонажи.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975" y="4708686"/>
            <a:ext cx="10560051" cy="908107"/>
          </a:xfrm>
          <a:prstGeom prst="roundRect">
            <a:avLst>
              <a:gd name="adj" fmla="val 10838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443" y="4914156"/>
            <a:ext cx="10453588" cy="52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Деятельность отвечает на вопрос «в каком порядке выполняются действия», состояния — «в каком состоянии объект и что переводит его в другое».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01" y="623824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Блок-схема или UML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485900"/>
          <a:ext cx="10566401" cy="3484761"/>
        </p:xfrm>
        <a:graphic>
          <a:graphicData uri="http://schemas.openxmlformats.org/drawingml/2006/table">
            <a:tbl>
              <a:tblPr/>
              <a:tblGrid>
                <a:gridCol w="3522134"/>
                <a:gridCol w="3522134"/>
                <a:gridCol w="3522134"/>
              </a:tblGrid>
              <a:tr h="4978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Блок-схема, ГОСТ 19.701-90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Диаграмма деятельности UML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</a:tr>
              <a:tr h="4978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Объект описания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алгоритм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Процесс, сценарий, алгоритм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Уровень детализации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Операторы программы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Действия любого масштаба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Параллельные потоки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851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выражаются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Узлы fork и join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Исполнители ролей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851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показываются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Дорожки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Стандарт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ГОСТ, ISO 5807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OMG UML 2.5.1, ISO/IEC 19505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Где требуют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Учебные работы, ЕСПД, ВКР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Проектная документация в индустрии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237361"/>
            <a:ext cx="10883393" cy="54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пояснительной записке к ВКР нужны оба: блок-схемы ключевых алгоритмов в разделе реализации и UML-диаграммы в разделе проектирования.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42"/>
            <a:ext cx="65405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Алгоритмизация и программирование · Лекция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66401" y="623824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5175250" cy="1068784"/>
          </a:xfrm>
          <a:prstGeom prst="roundRect">
            <a:avLst>
              <a:gd name="adj" fmla="val 9209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043" y="1643745"/>
            <a:ext cx="4959568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96043" y="1907890"/>
            <a:ext cx="495956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Бесплатный редактор в браузере, готовые наборы фигур ГОСТ и UML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5975" y="2640409"/>
            <a:ext cx="5175250" cy="1068784"/>
          </a:xfrm>
          <a:prstGeom prst="roundRect">
            <a:avLst>
              <a:gd name="adj" fmla="val 9209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043" y="2820479"/>
            <a:ext cx="4959568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yEd и MS Visio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6043" y="3084624"/>
            <a:ext cx="495956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Автоматическая укладка больших графов; Visio — стандарт корпоративной документации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5975" y="3817144"/>
            <a:ext cx="5175250" cy="1068784"/>
          </a:xfrm>
          <a:prstGeom prst="roundRect">
            <a:avLst>
              <a:gd name="adj" fmla="val 9209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043" y="3997213"/>
            <a:ext cx="4959568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PlantUML, Mermaid, Graphviz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96043" y="4261358"/>
            <a:ext cx="495956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из текста: лежит в репозитории рядом с кодом, правки видны в git diff, мышью двигать нечего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00775" y="1463675"/>
            <a:ext cx="5175250" cy="1536133"/>
          </a:xfrm>
          <a:prstGeom prst="roundRect">
            <a:avLst>
              <a:gd name="adj" fmla="val 640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0843" y="1643745"/>
            <a:ext cx="4959568" cy="22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80843" y="1905335"/>
            <a:ext cx="495956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TD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A([Начало]) --&gt; B{n &gt; 0 ?}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B -- да --&gt; C[Вывести n]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B -- нет --&gt; D[Вывести 0]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00775" y="3107754"/>
            <a:ext cx="5175250" cy="2679133"/>
          </a:xfrm>
          <a:prstGeom prst="roundRect">
            <a:avLst>
              <a:gd name="adj" fmla="val 367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0843" y="3287824"/>
            <a:ext cx="4959568" cy="22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PlantUML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0843" y="3549414"/>
            <a:ext cx="4959568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 &gt; 0 ?) then (да)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:Вывести n;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(нет)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:Вывести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42"/>
            <a:ext cx="850265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Оба текста превращаются в картинку одной командой или в онлайн-редакторе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66401" y="623824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за лекцию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74" cy="1688448"/>
          </a:xfrm>
          <a:prstGeom prst="roundRect">
            <a:avLst>
              <a:gd name="adj" fmla="val 5829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443" y="1669145"/>
            <a:ext cx="309333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1443" y="1989162"/>
            <a:ext cx="3093336" cy="98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— конечная последовательность точных шагов для конкретного исполнителя, обладающая шестью свойствами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9" y="1463675"/>
            <a:ext cx="3414202" cy="1688448"/>
          </a:xfrm>
          <a:prstGeom prst="roundRect">
            <a:avLst>
              <a:gd name="adj" fmla="val 5829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367" y="1669145"/>
            <a:ext cx="3093365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94367" y="1989162"/>
            <a:ext cx="3093365" cy="743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Любой алгоритм строится из трёх конструкций: следование, ветвление, цикл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51" y="1463675"/>
            <a:ext cx="3414174" cy="1688448"/>
          </a:xfrm>
          <a:prstGeom prst="roundRect">
            <a:avLst>
              <a:gd name="adj" fmla="val 5829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7319" y="1669145"/>
            <a:ext cx="309333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67319" y="1989162"/>
            <a:ext cx="3093336" cy="98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 записи выбирается под читателя: псевдокод — себе, блок-схема — в отчёт, UML — команде, код — машине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3387068"/>
            <a:ext cx="5200650" cy="1449076"/>
          </a:xfrm>
          <a:prstGeom prst="roundRect">
            <a:avLst>
              <a:gd name="adj" fmla="val 679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443" y="3592550"/>
            <a:ext cx="493340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1443" y="3912555"/>
            <a:ext cx="4933406" cy="743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Блок-схема регламентирована ГОСТ 19.701-90: один вход и один выход у конструкции, подписанные ветви решения, поток сверху вниз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5375" y="3387068"/>
            <a:ext cx="5200650" cy="1449076"/>
          </a:xfrm>
          <a:prstGeom prst="roundRect">
            <a:avLst>
              <a:gd name="adj" fmla="val 679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0843" y="3592550"/>
            <a:ext cx="493340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0843" y="3912555"/>
            <a:ext cx="4933406" cy="743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описывает систему, а не один алгоритм; диаграмма деятельности умеет то, чего не умеет блок-схема: параллелизм и дорожки ответственности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42"/>
            <a:ext cx="850265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лекция: линейные алгоритмы, типы данных и ввод-вывод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66401" y="6238242"/>
            <a:ext cx="812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58A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Задания к практике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0"/>
            <a:ext cx="2527300" cy="2213457"/>
          </a:xfrm>
          <a:prstGeom prst="roundRect">
            <a:avLst>
              <a:gd name="adj" fmla="val 4590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42430"/>
            <a:ext cx="2132203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41400" y="2062460"/>
            <a:ext cx="2132203" cy="1222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Блок-схема решения квадратного уравнения: все случаи дискриминанта и вырожденный случай a = 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92500" y="1513830"/>
            <a:ext cx="2527300" cy="2213457"/>
          </a:xfrm>
          <a:prstGeom prst="roundRect">
            <a:avLst>
              <a:gd name="adj" fmla="val 4590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3721100" y="1742430"/>
            <a:ext cx="2132203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21100" y="2062460"/>
            <a:ext cx="2132203" cy="1461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Евклида: блок-схема, реализация на Python, сверка трассировки с работой программы на паре (48, 18)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13830"/>
            <a:ext cx="2527300" cy="2213457"/>
          </a:xfrm>
          <a:prstGeom prst="roundRect">
            <a:avLst>
              <a:gd name="adj" fmla="val 4590"/>
            </a:avLst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742430"/>
            <a:ext cx="2132203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062460"/>
            <a:ext cx="2132203" cy="1222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Подсчёт чётных элементов массива тремя способами: словесно, псевдокодом, блок-схемой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51901" y="1513830"/>
            <a:ext cx="2527300" cy="2213457"/>
          </a:xfrm>
          <a:prstGeom prst="roundRect">
            <a:avLst>
              <a:gd name="adj" fmla="val 4590"/>
            </a:avLst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9080501" y="1742430"/>
            <a:ext cx="2132203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80501" y="2062460"/>
            <a:ext cx="2132203" cy="1461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деятельности «сдача лабораторной работы» в Mermaid или PlantUML с дорожками «студент» и «преподаватель»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3981301"/>
            <a:ext cx="108833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Литература: ГОСТ 19.701-90 · Кормен и др., «Алгоритмы: построение и анализ» · Кнут, том 1, раздел 1.1 · Фаулер, «UML. Основы»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алгоритма. Блок-схемы и UML</dc:title>
  <dc:subject>PptxGenJS Presentation</dc:subject>
  <dc:creator>PptxGenJS</dc:creator>
  <cp:lastModifiedBy>PptxGenJS</cp:lastModifiedBy>
  <cp:revision>1</cp:revision>
  <dcterms:created xsi:type="dcterms:W3CDTF">2026-09-19T05:53:18Z</dcterms:created>
  <dcterms:modified xsi:type="dcterms:W3CDTF">2026-09-19T05:53:18Z</dcterms:modified>
</cp:coreProperties>
</file>