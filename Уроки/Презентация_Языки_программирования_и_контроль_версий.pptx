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--graph  # история одной идеи: как говорить с машиной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ЛЕКЦИЯ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программирования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015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системы контроля версий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· уровни абстракции · компиляция и интерпретация · управление памятью · парадигмы · Git и GitHub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47548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«Алгоритмизация и программирование» · 1 курс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СПбГУПТД · Институт информационных технологий и автоматизации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поговорим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шесть тем, шесть слоёв понимания того, как устроено программирование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8424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431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84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02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Краткая история языков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505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перфокарт до современных языков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8424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431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84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002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и высокий уровень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4505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язык близок к «железу»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58444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431"/>
          </a:solidFill>
          <a:ln w="15875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6027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и интерпретация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050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программа доходит до процессора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2918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358444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431"/>
          </a:solidFill>
          <a:ln w="15875">
            <a:solidFill>
              <a:srgbClr val="F088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6027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памятью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050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освобождение против сборки мусора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18464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431"/>
          </a:solidFill>
          <a:ln w="15875">
            <a:solidFill>
              <a:srgbClr val="FF7B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51846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5202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Парадигмы программирования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5650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 · процедурная · функциональная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892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518464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431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9672" y="51846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5202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контроля версий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5650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Git и разница с GitHub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КРАТКАЯ ИСТОРИЯ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языки поднимались над «железом»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история — это рост уровня абстракции: человек описывает задачу удобно, а перевод в машинный код берёт на себя инструмент.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26464" y="4343400"/>
            <a:ext cx="92811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1755648" cy="192024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95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1957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077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375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массовый язык высокого уровня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44168" y="4261104"/>
            <a:ext cx="164592" cy="164592"/>
          </a:xfrm>
          <a:prstGeom prst="ellipse">
            <a:avLst/>
          </a:prstGeom>
          <a:solidFill>
            <a:srgbClr val="58A6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2194560"/>
            <a:ext cx="1755648" cy="192024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04872" y="2395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1972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29077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3375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над «железом» + переносимость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261104"/>
            <a:ext cx="164592" cy="164592"/>
          </a:xfrm>
          <a:prstGeom prst="ellipse">
            <a:avLst/>
          </a:prstGeom>
          <a:solidFill>
            <a:srgbClr val="3FB950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1104" y="2194560"/>
            <a:ext cx="1755648" cy="192024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61104" y="2395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1983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4261104" y="29077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370832" y="33375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 поверх C, высокая скорость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56632" y="4261104"/>
            <a:ext cx="164592" cy="164592"/>
          </a:xfrm>
          <a:prstGeom prst="ellipse">
            <a:avLst/>
          </a:prstGeom>
          <a:solidFill>
            <a:srgbClr val="BC8C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2194560"/>
            <a:ext cx="1755648" cy="192024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17336" y="2395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1991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6117336" y="29077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27064" y="33375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на читаемость кода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12864" y="4261104"/>
            <a:ext cx="164592" cy="164592"/>
          </a:xfrm>
          <a:prstGeom prst="ellipse">
            <a:avLst/>
          </a:prstGeom>
          <a:solidFill>
            <a:srgbClr val="F0883E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73568" y="2194560"/>
            <a:ext cx="1755648" cy="192024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73568" y="2395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1995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7973568" y="29077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JS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83296" y="33375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байт-код и язык браузера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69096" y="4261104"/>
            <a:ext cx="164592" cy="164592"/>
          </a:xfrm>
          <a:prstGeom prst="ellipse">
            <a:avLst/>
          </a:prstGeom>
          <a:solidFill>
            <a:srgbClr val="FF7B72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29800" y="2194560"/>
            <a:ext cx="1755648" cy="192024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29800" y="2395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2009+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9829800" y="29077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Rust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939528" y="33375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и безопасность памяти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625328" y="4261104"/>
            <a:ext cx="164592" cy="164592"/>
          </a:xfrm>
          <a:prstGeom prst="ellipse">
            <a:avLst/>
          </a:prstGeom>
          <a:solidFill>
            <a:srgbClr val="58A6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язык не «лучший» — каждый появился как ответ на конкретную задачу своего времени. Выбирая язык, мы выбираем набор компромиссов.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УРОВНИ ЯЗЫКОВ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и высокий уровень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языка — мера того, насколько он отдалён от процессора и приближен к человеку.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5875">
            <a:solidFill>
              <a:srgbClr val="FF7B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НИЗКИЙ УРОВЕНЬ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Машинный код, ассемблер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работа с регистрами, ячейками и адресами памяти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 контроль и скорость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писать, легко ошибиться, привязан к процессору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ВЫСОКИЙ УРОВЕНЬ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JavaScript, C#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889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Описываем что сделать, детали машинных команд скрыты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читаемость, скорость разработки, переносимость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контроля, обычно чуть ниже скорость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C2431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«золотая середина».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доступ к памяти и адресам, но читается как язык высокого уровня — поэтому на нём пишут операционные системы и драйверы.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ПЕРЕВОД ПРОГРАММЫ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и интерпретация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 понимает только машинный код. Значит, исходный текст программы нужно перевести — двумя способами.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КОМПИЛЯЦИЯ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заранее переводится в машинный компилятором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выходе — готовый исполняемый файл, запускается сам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Языки: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C++, Go, Rust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пересборка под каждую платформу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42519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4398264"/>
            <a:ext cx="4535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program.c -o program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./program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161B22"/>
          </a:solidFill>
          <a:ln w="15875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ИНТЕРПРЕТАЦИЯ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688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Интерпретатор читает и выполняет код во время работы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Отдельного файла нет — нужен установленный интерпретатор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Языки: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JavaScript, Ruby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 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обычно медленнее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42519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7688" y="4398264"/>
            <a:ext cx="4535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program.py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интерпретатор сразу выполняет исходник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ПЕРЕВОД ПРОГРАММЫ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путь · Python и Go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C2431"/>
          </a:solidFill>
          <a:ln w="15875">
            <a:solidFill>
              <a:srgbClr val="F088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727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БАЙТ-КОД + ВИРТУАЛЬНАЯ МАШИНА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Исходник компилируется не в машинный код, а в промежуточный байт-код, который выполняет виртуальная машина. Так работают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(JVM), C# (.NET) и даже Python (.pyc → PVM).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JIT-компиляция на лету превращает «горячие» участки в машинный код ради скорости.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880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2880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461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017520" y="3246120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82112" y="3246120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 (байт-код + PVM)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60920" y="3246120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3246120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в машинный код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9593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17520" y="3959352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82112" y="3959352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интерпретатор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60920" y="3959352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25512" y="3959352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самодостаточный файл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672584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6725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017520" y="4672584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82112" y="4672584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60920" y="4672584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25512" y="4672584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385816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3858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017520" y="5385816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82112" y="5385816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быстрая и гибкая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360920" y="5385816"/>
            <a:ext cx="4251960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25512" y="5385816"/>
            <a:ext cx="3922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Быстрая, но строже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ПАМЯТЬ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управление и сборка мусора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выделяет память под данные и должна освобождать её, когда данные не нужны. Кто это делает — важнейшее различие языков.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161B22"/>
          </a:solidFill>
          <a:ln w="15875">
            <a:solidFill>
              <a:srgbClr val="FF7B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РУЧНОЕ УПРАВЛЕНИЕ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Программист сам: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malloc/free (C), new/delete (C++)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 и максимум производительности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утечки памяти, «висячие» указатели, двойное освобождение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849624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malloc(sizeof(int));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освободить обязаны сами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СБОРКА МУСОРА (GC)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23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Сборщик мусора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освобождает данные, на которые никто не ссылается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Языки: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Go, C#, JavaScript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 и безопаснее 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контроля, паузы на уборку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370332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7688" y="3849624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[1, 2, 3]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выделилось само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None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GC освободит память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C2431"/>
          </a:solidFill>
          <a:ln w="15875">
            <a:solidFill>
              <a:srgbClr val="BC8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834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путь — Rust.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сборщика мусора и без ручного free: компилятор по строгим правилам владения сам определяет, когда освободить память, и проверяет это ещё до запуска — и безопасность, и скорость.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ПАРАДИГМЫ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Императивный и декларативный подходы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Парадигма — способ мышления о программе. Первое большое деление: описываем мы шаги или желаемый результат.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ИМПЕРАТИВНЫЙ — «КАК»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95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 описываем действия, которые должен выполнить компьютер.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чётные числа (Python):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4937760" cy="1463040"/>
          </a:xfrm>
          <a:prstGeom prst="roundRect">
            <a:avLst>
              <a:gd name="adj" fmla="val 375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3529584"/>
            <a:ext cx="45354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[]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numbers: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%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result.append(x)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ДЕКЛАРАТИВНЫЙ — «ЧТО»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957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Описываем желаемый результат, а как его достичь — решает система. Пример — язык запросов SQL.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результат (SQL):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3383280"/>
            <a:ext cx="4937760" cy="1463040"/>
          </a:xfrm>
          <a:prstGeom prst="roundRect">
            <a:avLst>
              <a:gd name="adj" fmla="val 375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7688" y="3529584"/>
            <a:ext cx="45354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numbers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%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никаких циклов, только условие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ПАРАДИГМЫ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Процедурная · ООП · функциональная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язык может сочетать несколько стилей: Python поддерживает все три.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431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21408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ПРОЦЕДУРНАЯ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69748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= набор процедур и функций, которые вызываются по очереди.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4206240"/>
            <a:ext cx="3026664" cy="1234440"/>
          </a:xfrm>
          <a:prstGeom prst="roundRect">
            <a:avLst>
              <a:gd name="adj" fmla="val 4444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352544"/>
            <a:ext cx="2624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area(w, h):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* 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6824" y="187452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431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3542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29784" y="2121408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ООП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69748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объединяют данные и поведение. Три опоры: инкапсуляция, наследование, полиморфизм.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62856" y="4206240"/>
            <a:ext cx="3026664" cy="1234440"/>
          </a:xfrm>
          <a:prstGeom prst="roundRect">
            <a:avLst>
              <a:gd name="adj" fmla="val 4444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64024" y="4352544"/>
            <a:ext cx="2624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Dog(Animal):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sound(self):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'Гав'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65008" y="187452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5875">
            <a:solidFill>
              <a:srgbClr val="BC8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431"/>
          </a:solidFill>
          <a:ln w="15875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2121408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ФУНКЦИОНАЛЬНАЯ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69748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Вычисление через функции: чистые функции, неизменяемость, функции высшего порядка.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21040" y="4206240"/>
            <a:ext cx="3026664" cy="1234440"/>
          </a:xfrm>
          <a:prstGeom prst="roundRect">
            <a:avLst>
              <a:gd name="adj" fmla="val 4444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22208" y="4352544"/>
            <a:ext cx="2624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n: n*n, nums)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КОНТРОЛЬ ВЕРСИЙ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нужны системы контроля версий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161B22"/>
          </a:solidFill>
          <a:ln w="15875">
            <a:solidFill>
              <a:srgbClr val="FF7B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ЗНАКОМАЯ ПРОБЛЕМА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4937760" cy="1554480"/>
          </a:xfrm>
          <a:prstGeom prst="roundRect">
            <a:avLst>
              <a:gd name="adj" fmla="val 3529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2157984"/>
            <a:ext cx="45354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курсовая_финал/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курсовая_финал_2/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курсовая_точно_итог/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изменилось между версиями?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когда это правил?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вернуть версию трёхдневной давности?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если над файлом работают двое одновременно?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ДЕЛАЕТ VCS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116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полную историю </a:t>
            </a:r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изменений проекта</a:t>
            </a:r>
            <a:endParaRPr lang="en-US" sz="15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Позволяет вернуться </a:t>
            </a:r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любой прошлой версии</a:t>
            </a:r>
            <a:endParaRPr lang="en-US" sz="15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</a:t>
            </a:r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что и когда изменил</a:t>
            </a:r>
            <a:endParaRPr lang="en-US" sz="15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работать вместе </a:t>
            </a:r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объединять изменения</a:t>
            </a:r>
            <a:endParaRPr lang="en-US" sz="15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Поддерживает ветки </a:t>
            </a:r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независимые линии разработки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5074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Централизованные (SVN): вся история на одном сервере.   Распределённые (Git): полная копия истории у каждого — стандарт сегодня.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ОСНОВЫ GIT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зоны и базовый цикл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06324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56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директория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файлы, которые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редактируете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920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600200"/>
            <a:ext cx="306324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856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к записи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1920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600200"/>
            <a:ext cx="306324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1856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сохранённая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коммитов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 — это сохранённый снимок проекта на определённый момент с автором и описанием. История проекта — цепочка коммитов.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цикл работы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535424"/>
            <a:ext cx="106619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создать репозиторий в папке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посмотреть, что изменилось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file.py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добавить изменения в индекс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'Описание'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сохранить снимок в историю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# посмотреть историю коммитов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ОСНОВЫ GIT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Ветки и работа с сервером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5875">
            <a:solidFill>
              <a:srgbClr val="BC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ВЕТКИ И СЛИЯНИЕ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— отдельная линия разработки. Можно делать новую функцию, не ломая рабочую версию в main, а потом слить её обратно.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017520"/>
            <a:ext cx="4983480" cy="2514600"/>
          </a:xfrm>
          <a:prstGeom prst="roundRect">
            <a:avLst>
              <a:gd name="adj" fmla="val 2182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163824"/>
            <a:ext cx="45811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правим код, коммитим ...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УДАЛЁННЫЙ РЕПОЗИТОРИЙ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0299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изменениями с сервером (например, на GitHub): забрать чужое и отправить своё.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3017520"/>
            <a:ext cx="4983480" cy="2514600"/>
          </a:xfrm>
          <a:prstGeom prst="roundRect">
            <a:avLst>
              <a:gd name="adj" fmla="val 2182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3163824"/>
            <a:ext cx="45811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&lt;ссылка&gt;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скопировать репозиторий себе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забрать свежие изменения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отправить свои коммиты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ГЛАВНОЕ РАЗЛИЧИЕ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58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070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12070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51760" cy="841248"/>
          </a:xfrm>
          <a:prstGeom prst="roundRect">
            <a:avLst>
              <a:gd name="adj" fmla="val 9783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Программа-инструмент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контроля версий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800" y="16002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16002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Онлайн-сервис для хранения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Git-репозиториев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2651760" cy="841248"/>
          </a:xfrm>
          <a:prstGeom prst="roundRect">
            <a:avLst>
              <a:gd name="adj" fmla="val 9783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5146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работает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5146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5146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вашем компьютере,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43800" y="25146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25146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интернете,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 облаке»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651760" cy="841248"/>
          </a:xfrm>
          <a:prstGeom prst="roundRect">
            <a:avLst>
              <a:gd name="adj" fmla="val 9783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429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интернет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34290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4290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43800" y="34290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34290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2651760" cy="841248"/>
          </a:xfrm>
          <a:prstGeom prst="roundRect">
            <a:avLst>
              <a:gd name="adj" fmla="val 9783"/>
            </a:avLst>
          </a:prstGeom>
          <a:solidFill>
            <a:srgbClr val="1C243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3434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91840" y="43434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43434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Mercurial, SVN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543800" y="43434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26680" y="434340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GitLab, Bitbucket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C2431"/>
          </a:solidFill>
          <a:ln w="15875">
            <a:solidFill>
              <a:srgbClr val="7EE78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формула: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инструмент, GitHub — площадка для его результатов. Git можно использовать без GitHub; GitHub без Git — нет.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'понял основы'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унести с лекции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395728"/>
            <a:ext cx="109728" cy="10972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абстракции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633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поднимались от машинного кода к человеку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395728"/>
            <a:ext cx="109728" cy="109728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65392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программы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633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заранее или интерпретация на ходу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44728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3272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3685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освобождение против сборки мусора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44728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65392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Парадигмы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3685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императивно/декларативно; ООП, процедурно, функционально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33272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инструмент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47365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зоны, коммиты, ветки — история проекта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498848"/>
            <a:ext cx="109728" cy="10972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65392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площадка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47365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облачное хранилище репозиториев для команды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623560"/>
            <a:ext cx="10607040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6235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 практике: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→ создать hello.py → git add → git commit → git log → создать ветку → merge в main.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2026-09-08T17:20:11Z</dcterms:created>
  <dcterms:modified xsi:type="dcterms:W3CDTF">2026-09-08T17:20:11Z</dcterms:modified>
</cp:coreProperties>
</file>