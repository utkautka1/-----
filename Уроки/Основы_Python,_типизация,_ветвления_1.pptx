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Лекция объединяет основы синтаксиса Python и первые управляющие конструкции. По ходу сравниваем Python с Go и заглядываем на уровень процессора.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половина — синтаксис и типы, вторая — управление потоком выполнения и то, как оно выглядит для процессора.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Python не компилируется в машинный код, отсюда низкая скорость циклов. Таблица — опорная, к ней вернёмся при разговоре о типизации.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Частая путаница: «динамическая» не значит «слабая». Python динамический, но строгий. C статический, но относительно слабый.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в Python ошибка типа проявится только когда до этой строки дойдёт выполнение.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Можно спросить аудиторию, что выведет "5" - 3 в JavaScript, прежде чем показать ответ.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Аннотации — компромисс: динамический язык получает часть преимуществ статической проверки, не теряя гибкости.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Go обязательны пакет, импорт и функция main. В Python скрипт выполняется сверху вниз, точка входа не нужна.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Можно нарисовать на доске: имя age — стрелка к объекту 19, после присваивания стрелка переезжает к объекту 20. Сам объект 19 не меняется.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Сравнить с Go: int32 и int64 фиксированного размера и переполняются. В Python int растёт без предела ценой скорости и памяти.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Предложить студентам проверить в REPL. Отсюда же round(2.675, 2) == 2.67.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Приоритет: ** выше унарного минуса и правоассоциативен. При сомнениях — скобки. divmod(17, 5) даёт (3,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Ленивое вычисление важно и для цикломатической сложности: каждое and/or — ещё одна точка ветвления.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f"{score=}" появился в 3.8 и удобен для отладочного вывода.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Ввод не числа даст ValueError — обработку исключений разберём позже. print пишет в stdout, input читает stdin: поэтому работает python prog.py &lt; input.txt, как в системах автопроверки.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 разницу: в форме if без else может не выполниться ничего. else гарантирует, что одна ветка сработает всегда. elif добавляет промежуточные проверки, и сработает только первая истинная.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Спросить: что будет, если переставить условия? Хороший момент, чтобы показать, что выполняется только одна ветка.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Go тернарного оператора нет намеренно — там пишут обычный 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 clause — условие-«охранник»: если вход не подходит, функция сразу возвращает результат. Условия инвертируются: вместо «если пользователь есть» пишем «если пользователя нет — выходим». Так основная логика остаётся в конце функции на первом уровне отступа. Этот стиль принят и в Go: if err != nil { return err 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Упрощённая четырёхстадийная модель. В реальных ядрах стадий больше, и на конвейере одновременно десятки инструкций.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Python разница заметно меньше: интерпретатор на каждой итерации выполняет десятки своих переходов, и штраф тонет в накладных расходах. В полную силу эффект виден в C, Go и NumPy. Код эксперимента на Python есть в конспекте.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по шагам: если v &lt; 128, разность отрицательна, арифметический сдвиг заполняет все биты единицами, t = -1, ^t = 0, и к сумме прибавляется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Go есть и switch без выражения — аккуратная замена цепочки if: switch { case score &gt;= 85: … 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Провала между ветками нет: выполняется первая подходящая. case _ — аналог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Поиск в словаре в среднем O(1). Устройство хеш-таблиц разберём позже в курсе.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Метрика показывает и запутанность логики, и сколько тестов нужно, чтобы пройти каждую ветку.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Пороги приблизительные, их используют как ориентир при код-ревью и в линтерах.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Python for — это «для каждого элемента», а не цикл со счётчиком, как в C. Классический счётчик получается через range. enumerate даёт сразу индекс и значение — не нужно писать range(len(names)).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Условие проверяется перед каждой итерацией. Если оно ложно сразу, тело не выполнится ни разу. Цикла do-while, который выполняется хотя бы один раз, в Python нет — его заменяют while True с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Практическое правило для студентов: если можно сказать «для каждого…» — пишем for. Если «пока…» — 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удобен как фильтр в начале цикла: отсеять неподходящее и не вкладывать основную логику в 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Связь с лекцией: break и continue — тоже условные переходы, участвуют в предсказании ветвлений, а каждый if с ними добавляет +1 к цикломатической сложности.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Короткое повторение перед контрольными вопросами.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Практика: калькулятор тремя способами (if/elif, match, словарь), проверка високосного года с подсчётом M, эксперимент с сортировкой, сумма положительных с break/continue.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48"/>
            <a:ext cx="10566401" cy="447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71"/>
            <a:ext cx="10566400" cy="416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48"/>
            <a:ext cx="10566401" cy="447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71"/>
            <a:ext cx="10566400" cy="416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1" cy="76200"/>
          </a:xfrm>
          <a:prstGeom prst="rect">
            <a:avLst/>
          </a:prstGeom>
          <a:gradFill rotWithShape="1">
            <a:gsLst>
              <a:gs pos="0">
                <a:srgbClr val="3FB950"/>
              </a:gs>
              <a:gs pos="100000">
                <a:srgbClr val="58A6FF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077726"/>
            <a:ext cx="10883393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python3 lecture.py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616200"/>
            <a:ext cx="9810751" cy="136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Основы Python: типизация, переменные, ветвления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4211298"/>
            <a:ext cx="9156701" cy="594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Типы данных, операторы, ввод/вывод, if/elif/else, branch prediction, switch и match, цикломатическая сложность, break и continue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035052"/>
            <a:ext cx="78486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Алгоритмизация и программирование · кафедра ЦАТ, СПбГУПТД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ПЛАН ЛЕКЦИИ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9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Десять шагов: от типов до управления потоком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79663"/>
            <a:ext cx="52832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61215"/>
            <a:ext cx="294651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59851" y="1930372"/>
            <a:ext cx="1591900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Язык Python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0" y="2379663"/>
            <a:ext cx="52832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0" y="1961215"/>
            <a:ext cx="294651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43052" y="1930372"/>
            <a:ext cx="2969521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Ветвление if / elif / else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800" y="2832129"/>
            <a:ext cx="52832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413681"/>
            <a:ext cx="294651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59851" y="2382838"/>
            <a:ext cx="1379560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Типизация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6000" y="2832129"/>
            <a:ext cx="52832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2413681"/>
            <a:ext cx="294651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43052" y="2382838"/>
            <a:ext cx="3287452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Предсказание ветвлений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800" y="3284595"/>
            <a:ext cx="52832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2866147"/>
            <a:ext cx="294651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59851" y="2835304"/>
            <a:ext cx="3964203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Hello world, переменные, типы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96000" y="3284595"/>
            <a:ext cx="52832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0" y="2866147"/>
            <a:ext cx="294651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3052" y="2835304"/>
            <a:ext cx="3069670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switch, match и словари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2800" y="3737061"/>
            <a:ext cx="52832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800" y="3318612"/>
            <a:ext cx="294651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59851" y="3287770"/>
            <a:ext cx="325673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Операторы и математика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96000" y="3737061"/>
            <a:ext cx="52832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0" y="3318612"/>
            <a:ext cx="294651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09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43052" y="3287770"/>
            <a:ext cx="3765879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Цикломатическая сложность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2800" y="4189526"/>
            <a:ext cx="52832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800" y="3771078"/>
            <a:ext cx="294651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59851" y="3740235"/>
            <a:ext cx="1761411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Ввод и вывод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96000" y="4189526"/>
            <a:ext cx="52832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6000" y="3771078"/>
            <a:ext cx="294651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43052" y="3740235"/>
            <a:ext cx="3069091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Циклы, break и continue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ЯЗЫК PYTHON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0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ставит читаемость выше скорости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72"/>
            <a:ext cx="4839970" cy="594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Гвидо ван Россум, 1991. Сегодня — Python 3; Python 2 не поддерживается с 2020 года.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600920"/>
            <a:ext cx="4839970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Блоки — отступами. Философия: </a:t>
            </a:r>
            <a:r>
              <a:rPr lang="en-US" sz="16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this</a:t>
            </a:r>
            <a:r>
              <a:rPr lang="en-US" sz="16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037796"/>
            <a:ext cx="4839970" cy="594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 и ML, веб-бэкенд, автоматизация, наука, обучение.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759144"/>
            <a:ext cx="4839970" cy="594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CPython: исходник → байт-код (.pyc) → виртуальная машина.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0900" y="1892272"/>
          <a:ext cx="5448300" cy="2814071"/>
        </p:xfrm>
        <a:graphic>
          <a:graphicData uri="http://schemas.openxmlformats.org/drawingml/2006/table">
            <a:tbl>
              <a:tblPr/>
              <a:tblGrid>
                <a:gridCol w="1852422"/>
                <a:gridCol w="1797939"/>
                <a:gridCol w="1797939"/>
              </a:tblGrid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Свойство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Python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Выполнение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байт-код + ВМ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машинный код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43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Типизация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динамическая, строгая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статическая, строгая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43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Память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подсчёт ссылок + GC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Блоки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отступы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{ }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Скорость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ниже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выше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ТИПИЗАЦИЯ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8"/>
            <a:ext cx="10883393" cy="919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Две независимые оси: когда проверять и насколько строго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645341"/>
            <a:ext cx="13208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строгая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38375" y="2278969"/>
            <a:ext cx="4489450" cy="981670"/>
          </a:xfrm>
          <a:prstGeom prst="roundRect">
            <a:avLst>
              <a:gd name="adj" fmla="val 1002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43843" y="2484438"/>
            <a:ext cx="4200870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Go, Rust, Java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43843" y="2809534"/>
            <a:ext cx="420087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ошибки типов находит компилятор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89750" y="2282144"/>
            <a:ext cx="4483100" cy="975320"/>
          </a:xfrm>
          <a:prstGeom prst="roundRect">
            <a:avLst>
              <a:gd name="adj" fmla="val 9766"/>
            </a:avLst>
          </a:prstGeom>
          <a:solidFill>
            <a:srgbClr val="132A1C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99300" y="2491694"/>
            <a:ext cx="4185920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Python, Ruby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99300" y="2816791"/>
            <a:ext cx="418592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'5' + 3 → TypeError при запуске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3778504"/>
            <a:ext cx="13208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слабая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38375" y="3419390"/>
            <a:ext cx="4489450" cy="967156"/>
          </a:xfrm>
          <a:prstGeom prst="roundRect">
            <a:avLst>
              <a:gd name="adj" fmla="val 1017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3843" y="3624858"/>
            <a:ext cx="4200870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C, C++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43843" y="3949954"/>
            <a:ext cx="420087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 → int, указатель → void*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86575" y="3419390"/>
            <a:ext cx="4489450" cy="967156"/>
          </a:xfrm>
          <a:prstGeom prst="roundRect">
            <a:avLst>
              <a:gd name="adj" fmla="val 1017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92043" y="3624858"/>
            <a:ext cx="4200870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JavaScript, PHP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92043" y="3949954"/>
            <a:ext cx="420087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'5' + 3 → '53'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7400" y="4542121"/>
            <a:ext cx="1320800" cy="77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статическая · при компиляции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67763" y="4542121"/>
            <a:ext cx="4630674" cy="77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динамическая · при выполнении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ТИПИЗАЦИЯ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1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Статическая и динамическая: у кого тип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72"/>
            <a:ext cx="523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58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Статическая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336772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 у переменной, известен при компиляции и не меняется. Ошибку найдёт компилятор до запуска.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5975" y="3025747"/>
            <a:ext cx="5073650" cy="1627584"/>
          </a:xfrm>
          <a:prstGeom prst="roundRect">
            <a:avLst>
              <a:gd name="adj" fmla="val 604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2243" y="3282017"/>
            <a:ext cx="469794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2243" y="3596965"/>
            <a:ext cx="469794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var x int = 10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"hello"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ошибка компиляции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4808906"/>
            <a:ext cx="52324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C, C++, Java, Go, Rust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99200" y="1879572"/>
            <a:ext cx="523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Динамическая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99200" y="2336772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 у значения. Переменная — имя, которое можно привязать к объекту любого типа.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2375" y="3025747"/>
            <a:ext cx="5073650" cy="1627584"/>
          </a:xfrm>
          <a:prstGeom prst="roundRect">
            <a:avLst>
              <a:gd name="adj" fmla="val 604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8643" y="3282017"/>
            <a:ext cx="469794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58643" y="3596965"/>
            <a:ext cx="469794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10   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int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"hello"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теперь str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это допустимо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99200" y="4808906"/>
            <a:ext cx="52324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Python, JavaScript, Ruby, PHP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3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ТИПИЗАЦИЯ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1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Строгая и слабая: приводит ли язык типы сам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72"/>
            <a:ext cx="523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Строгая · Python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5975" y="2339947"/>
            <a:ext cx="5073650" cy="1579336"/>
          </a:xfrm>
          <a:prstGeom prst="roundRect">
            <a:avLst>
              <a:gd name="adj" fmla="val 623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227440" tIns="227440" rIns="90607" bIns="20204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"5" + 3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TypeError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int("5") + 3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8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"5" + str(3)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'53'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074858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Смешать несовместимые типы можно только явным преобразованием.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99200" y="1879572"/>
            <a:ext cx="523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08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Слабая · JavaScript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2375" y="2339947"/>
            <a:ext cx="5073650" cy="1312636"/>
          </a:xfrm>
          <a:prstGeom prst="roundRect">
            <a:avLst>
              <a:gd name="adj" fmla="val 749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227440" tIns="227440" rIns="90607" bIns="20204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"5" + 3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"53"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"5" - 3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2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[] + {}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"[object Object]"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99200" y="3808158"/>
            <a:ext cx="523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Язык молча приводит типы — иногда неожиданно.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4913058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Граница размыта: Python тоже расширяет int → float (1 + 2.5) и bool → int (True + 1 == 2).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ТИПИЗАЦИЯ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8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Аннотации типов интерпретатор не проверяет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44"/>
            <a:ext cx="10560051" cy="2256235"/>
          </a:xfrm>
          <a:prstGeom prst="roundRect">
            <a:avLst>
              <a:gd name="adj" fmla="val 436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139014"/>
            <a:ext cx="1034894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3.5+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243" y="2453962"/>
            <a:ext cx="1034894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area(width: float, height: float) -&gt; float: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width * height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area("3", 4)  </a:t>
            </a:r>
            <a:r>
              <a:rPr lang="en-US" sz="15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запустится и упадёт с TypeError внутри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</a:t>
            </a:r>
            <a:r>
              <a:rPr lang="en-US" sz="15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mypy найдёт ошибку до запуска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5500" y="4446956"/>
            <a:ext cx="0" cy="64512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4497756"/>
            <a:ext cx="3278951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Для человека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792377"/>
            <a:ext cx="3278951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документация прямо в коде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15348" y="4446956"/>
            <a:ext cx="0" cy="64512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5848" y="4497756"/>
            <a:ext cx="3278981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Для анализаторов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5848" y="4792377"/>
            <a:ext cx="3278981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mypy, pyright, подсказки IDE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5225" y="4446956"/>
            <a:ext cx="0" cy="645120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5725" y="4497756"/>
            <a:ext cx="3278981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Gradual typing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95725" y="4792377"/>
            <a:ext cx="3278981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статическая проверка по желанию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HELLO WORLD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8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Одна строка против семи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47"/>
            <a:ext cx="5073650" cy="3293807"/>
          </a:xfrm>
          <a:prstGeom prst="roundRect">
            <a:avLst>
              <a:gd name="adj" fmla="val 298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139014"/>
            <a:ext cx="469794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243" y="2453962"/>
            <a:ext cx="46979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print("Hello, world!")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2243" y="4689162"/>
            <a:ext cx="4697948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python hello.py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2375" y="1882747"/>
            <a:ext cx="5073650" cy="3293807"/>
          </a:xfrm>
          <a:prstGeom prst="roundRect">
            <a:avLst>
              <a:gd name="adj" fmla="val 298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8643" y="2139014"/>
            <a:ext cx="469794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hello.go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58643" y="2453962"/>
            <a:ext cx="4697948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package main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"fmt"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func main()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fmt.Println("Hello, world!")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8643" y="4689162"/>
            <a:ext cx="4697948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go run hello.go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5484530"/>
            <a:ext cx="108833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Команда </a:t>
            </a:r>
            <a:r>
              <a:rPr lang="en-US" sz="15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</a:t>
            </a: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без аргументов открывает REPL — интерактивный режим для экспериментов.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ПЕРЕМЕННЫЕ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1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Переменная — имя, которое ссылается на объект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5975" y="1882750"/>
            <a:ext cx="5708650" cy="2912836"/>
          </a:xfrm>
          <a:prstGeom prst="roundRect">
            <a:avLst>
              <a:gd name="adj" fmla="val 3379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227440" tIns="227440" rIns="71557" bIns="20204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age = 19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name = "Анна"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age = age + 1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новый объект 20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b = 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x, y = 1, 2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x, y = y, x 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обмен значений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type(age)   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&lt;class 'int'&gt;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34200" y="1879575"/>
            <a:ext cx="4578350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Без объявления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34200" y="2174199"/>
            <a:ext cx="457835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появляется при первом присваивании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34200" y="2626296"/>
            <a:ext cx="4578350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Правила имён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34200" y="2920919"/>
            <a:ext cx="4578350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буквы, цифры, _; не с цифры; age ≠ Age; не ключевые слова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34200" y="3621912"/>
            <a:ext cx="4578350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PEP 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34200" y="3916536"/>
            <a:ext cx="4578350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snake_case для переменных, UPPER_CASE для констант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ПРОСТЫЕ ТИПЫ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1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Шесть простых типов, все неизменяемые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2275"/>
          <a:ext cx="10553701" cy="2702322"/>
        </p:xfrm>
        <a:graphic>
          <a:graphicData uri="http://schemas.openxmlformats.org/drawingml/2006/table">
            <a:tbl>
              <a:tblPr/>
              <a:tblGrid>
                <a:gridCol w="1899666"/>
                <a:gridCol w="3799332"/>
                <a:gridCol w="4854702"/>
              </a:tblGrid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Тип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Пример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Особенность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42, 1_000_000, 0xFF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произвольная точность: 2 ** 100 точно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float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3.14, 1e-3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64 бита IEEE 754, есть погрешность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bool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True, False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подтип int: True == 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'abc', "abc"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последовательность символов Unicode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NoneType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«отсутствие значения»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complex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+ 3j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комплексные числа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899397"/>
            <a:ext cx="108833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Ложны: 0, 0.0, "", None, пустые коллекции. Всё остальное — истинно.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FB9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32986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0D11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ЛОВУШКА FLOAT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435882"/>
            <a:ext cx="1088339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0D11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0.1 + 0.2 == 0.3</a:t>
            </a:r>
            <a:endParaRPr lang="en-US" sz="6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528082"/>
            <a:ext cx="10883393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1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False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4284979"/>
            <a:ext cx="9156701" cy="665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1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Дроби хранятся в двоичном виде неточно: 0.1 + 0.2 = 0.30000000000000004. Сравнивайте через math.isclose(a, b).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ОПЕРАТОРЫ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Деление в Python и Go округляет по-разному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2269"/>
          <a:ext cx="5194300" cy="3088368"/>
        </p:xfrm>
        <a:graphic>
          <a:graphicData uri="http://schemas.openxmlformats.org/drawingml/2006/table">
            <a:tbl>
              <a:tblPr/>
              <a:tblGrid>
                <a:gridCol w="934974"/>
                <a:gridCol w="2597150"/>
                <a:gridCol w="1662176"/>
              </a:tblGrid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Оп.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Действие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7 ? 2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+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сложение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9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-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вычитание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5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*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умножение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14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/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деление → float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3.5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//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целое, вниз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3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%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остаток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4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FB95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**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степень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49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29375" y="1882744"/>
            <a:ext cx="4946650" cy="1233884"/>
          </a:xfrm>
          <a:prstGeom prst="roundRect">
            <a:avLst>
              <a:gd name="adj" fmla="val 797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34843" y="2088214"/>
            <a:ext cx="4671786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· вниз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34843" y="2377759"/>
            <a:ext cx="46717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-7 // 2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-4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-7 % 2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  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29375" y="3275378"/>
            <a:ext cx="4946650" cy="1233884"/>
          </a:xfrm>
          <a:prstGeom prst="roundRect">
            <a:avLst>
              <a:gd name="adj" fmla="val 797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34843" y="3480848"/>
            <a:ext cx="4671786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A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go · к нулю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34843" y="3770393"/>
            <a:ext cx="46717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-7 / 2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-3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-7 % 2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-1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26200" y="4664838"/>
            <a:ext cx="57658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-2 ** 2 == -4, 2 ** 3 ** 2 == 512. Нет ++ и --, есть +=, -=, *=.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СРАВНЕНИЯ И ЛОГИКА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и or вычисляются лениво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44"/>
            <a:ext cx="5149850" cy="1391359"/>
          </a:xfrm>
          <a:prstGeom prst="roundRect">
            <a:avLst>
              <a:gd name="adj" fmla="val 707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139014"/>
            <a:ext cx="4776434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Цепочки сравнений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2243" y="2484438"/>
            <a:ext cx="477643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 &lt;= x &lt; 10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(0 &lt;= x) and (x &lt; 10)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26175" y="1882744"/>
            <a:ext cx="5149850" cy="1391359"/>
          </a:xfrm>
          <a:prstGeom prst="roundRect">
            <a:avLst>
              <a:gd name="adj" fmla="val 707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2443" y="2139014"/>
            <a:ext cx="4776434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== и 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82443" y="2484438"/>
            <a:ext cx="477643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== b  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значения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is None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только для None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534451"/>
            <a:ext cx="5149850" cy="1391359"/>
          </a:xfrm>
          <a:prstGeom prst="roundRect">
            <a:avLst>
              <a:gd name="adj" fmla="val 707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2243" y="3790721"/>
            <a:ext cx="4776434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Short-circuit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2243" y="4136144"/>
            <a:ext cx="477643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!= 0 and 10 / x &gt; 1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при x = 0 деления нет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26175" y="3534451"/>
            <a:ext cx="5149850" cy="1391359"/>
          </a:xfrm>
          <a:prstGeom prst="roundRect">
            <a:avLst>
              <a:gd name="adj" fmla="val 707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2443" y="3790721"/>
            <a:ext cx="4776434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Возвращают операнд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2443" y="4136144"/>
            <a:ext cx="477643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"" or "Гость"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'Гость'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5233789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Побитовые: &amp; | ^ ~ &lt;&lt; &gt;&gt; — пригодятся в разделе о процессоре.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ВЫВОД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print() и f-строки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44"/>
            <a:ext cx="5124450" cy="2694385"/>
          </a:xfrm>
          <a:prstGeom prst="roundRect">
            <a:avLst>
              <a:gd name="adj" fmla="val 365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139014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243" y="2453959"/>
            <a:ext cx="4750272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print("Сумма:", 2 + 3)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Сумма: 5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print(1, 2, 3, sep=", 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1, 2, 3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print("Без перевода", end="")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1575" y="1882744"/>
            <a:ext cx="5124450" cy="2694385"/>
          </a:xfrm>
          <a:prstGeom prst="roundRect">
            <a:avLst>
              <a:gd name="adj" fmla="val 365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843" y="2139014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f-строки, python 3.6+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7843" y="2453959"/>
            <a:ext cx="475027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score = 87.456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f"{score:.1f}"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'87.5'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f"{42:05d}"   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'00042'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f"{0.256:.0%}"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'26%'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f"{1234567:,}"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'1,234,567'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f"{score=}"    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'score=87.456'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885103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чужом коде встретятся старые способы: "%s = %d" % ("x", 5) и "{}".format(x).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ВВОД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input() всегда возвращает строку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919"/>
            <a:ext cx="5118100" cy="1635749"/>
          </a:xfrm>
          <a:prstGeom prst="roundRect">
            <a:avLst>
              <a:gd name="adj" fmla="val 5823"/>
            </a:avLst>
          </a:prstGeom>
          <a:solidFill>
            <a:srgbClr val="0D1117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46269"/>
            <a:ext cx="473532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ошибка: склеились строки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500" y="2461220"/>
            <a:ext cx="473532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input()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2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 = input()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3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print(a + b) </a:t>
            </a:r>
            <a:r>
              <a:rPr lang="en-US" sz="1400" dirty="0">
                <a:solidFill>
                  <a:srgbClr val="FF7B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23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4750" y="1885919"/>
            <a:ext cx="5118100" cy="1635749"/>
          </a:xfrm>
          <a:prstGeom prst="roundRect">
            <a:avLst>
              <a:gd name="adj" fmla="val 5823"/>
            </a:avLst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5100" y="2146269"/>
            <a:ext cx="473532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верно: явное преобразование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5100" y="2461220"/>
            <a:ext cx="473532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int(input())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 = int(input())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print(a + b) </a:t>
            </a: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835995"/>
            <a:ext cx="10560051" cy="967184"/>
          </a:xfrm>
          <a:prstGeom prst="roundRect">
            <a:avLst>
              <a:gd name="adj" fmla="val 10176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2243" y="4041459"/>
            <a:ext cx="1034894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несколько чисел в одной строке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2243" y="4331010"/>
            <a:ext cx="103489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a, b = map(int, input().split())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ввод: 2 3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ВЕТВЛЕНИЕ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 формы if: ноль, одна из двух, одна из многих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69"/>
            <a:ext cx="3488247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5975" y="2284047"/>
            <a:ext cx="3380298" cy="2145733"/>
          </a:xfrm>
          <a:prstGeom prst="roundRect">
            <a:avLst>
              <a:gd name="adj" fmla="val 458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176640" tIns="176640" rIns="87559" bIns="17664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temp &gt; 30: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print("Жарко")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4559951"/>
            <a:ext cx="348824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блок выполнится или будет пропущен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02648" y="1879569"/>
            <a:ext cx="3488277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8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… else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05823" y="2284047"/>
            <a:ext cx="3380326" cy="2145733"/>
          </a:xfrm>
          <a:prstGeom prst="roundRect">
            <a:avLst>
              <a:gd name="adj" fmla="val 458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176640" tIns="176640" rIns="87558" bIns="17664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temp &gt; 30: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print("Жарко")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print("Не жарко")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02648" y="4559951"/>
            <a:ext cx="348827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всегда ровно одна из двух веток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92525" y="1879569"/>
            <a:ext cx="3488277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8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… elif … else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95700" y="2284047"/>
            <a:ext cx="3380326" cy="1896836"/>
          </a:xfrm>
          <a:prstGeom prst="roundRect">
            <a:avLst>
              <a:gd name="adj" fmla="val 5189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176640" tIns="176640" rIns="87559" bIns="15124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temp &gt; 30: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print("Жарко")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elif temp &gt; 15: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print("Тепло")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print("Холодно")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92525" y="4311048"/>
            <a:ext cx="3488277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ровно одна из N веток — первая истинная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ВЕТВЛЕНИЕ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3" cy="919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Условия проверяются сверху вниз до первого истинного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5975" y="2329780"/>
            <a:ext cx="5581650" cy="3179536"/>
          </a:xfrm>
          <a:prstGeom prst="roundRect">
            <a:avLst>
              <a:gd name="adj" fmla="val 309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227440" tIns="227440" rIns="75367" bIns="20204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score = int(input("Баллы: "))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score &gt;= 85: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grade = "отлично"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elif score &gt;= 70: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grade = "хорошо"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elif score &gt;= 50: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grade = "удовлетворительно"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grade = "неудовлетворительно"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07200" y="2326605"/>
            <a:ext cx="4709160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Двоеточие и отступ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07200" y="2621223"/>
            <a:ext cx="470916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обязательны; по PEP 8 — 4 пробела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07200" y="3073326"/>
            <a:ext cx="4709160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elif и else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07200" y="3367943"/>
            <a:ext cx="470916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необязательны; elif сколько угодно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07200" y="3820046"/>
            <a:ext cx="4709160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Порядок важен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07200" y="4114664"/>
            <a:ext cx="470916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&gt;= 50 первым — и «отлично» не получит никто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ВЕТВЛЕНИЕ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Короткие формы и типичные ошибки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50"/>
            <a:ext cx="5073650" cy="967184"/>
          </a:xfrm>
          <a:prstGeom prst="roundRect">
            <a:avLst>
              <a:gd name="adj" fmla="val 1017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443" y="2088220"/>
            <a:ext cx="4802596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тернарный оператор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1443" y="2377765"/>
            <a:ext cx="48025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abs_x = x if x &gt;= 0 else -x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975" y="3008685"/>
            <a:ext cx="5073650" cy="1233884"/>
          </a:xfrm>
          <a:prstGeom prst="roundRect">
            <a:avLst>
              <a:gd name="adj" fmla="val 797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1443" y="3214154"/>
            <a:ext cx="4802596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вместо вложенности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1443" y="3503699"/>
            <a:ext cx="480259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age &gt;= 18 and has_ticket: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print("Проходите")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4401319"/>
            <a:ext cx="5073650" cy="1233884"/>
          </a:xfrm>
          <a:prstGeom prst="roundRect">
            <a:avLst>
              <a:gd name="adj" fmla="val 797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443" y="4606789"/>
            <a:ext cx="4802596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пустой блок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1443" y="4896334"/>
            <a:ext cx="480259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x &lt; 0: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pass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TODO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99200" y="1879575"/>
            <a:ext cx="5232400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7B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Ошибки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11900" y="2331678"/>
            <a:ext cx="0" cy="568920"/>
          </a:xfrm>
          <a:prstGeom prst="line">
            <a:avLst/>
          </a:prstGeom>
          <a:noFill/>
          <a:ln w="25400">
            <a:solidFill>
              <a:srgbClr val="FF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7000" y="2357078"/>
            <a:ext cx="504926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x = 5: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7000" y="2644068"/>
            <a:ext cx="504926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SyntaxError — нужно ==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11900" y="3078398"/>
            <a:ext cx="0" cy="568920"/>
          </a:xfrm>
          <a:prstGeom prst="line">
            <a:avLst/>
          </a:prstGeom>
          <a:noFill/>
          <a:ln w="25400">
            <a:solidFill>
              <a:srgbClr val="FF7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7000" y="3103798"/>
            <a:ext cx="504926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x == 1 or 2: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7000" y="3390788"/>
            <a:ext cx="504926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всегда истинно; верно: x in (1, 2)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11900" y="3825118"/>
            <a:ext cx="0" cy="568920"/>
          </a:xfrm>
          <a:prstGeom prst="line">
            <a:avLst/>
          </a:prstGeom>
          <a:noFill/>
          <a:ln w="25400">
            <a:solidFill>
              <a:srgbClr val="FF7B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7000" y="3850518"/>
            <a:ext cx="504926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a + b == 0.3: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7000" y="4137509"/>
            <a:ext cx="504926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float через == — используйте math.isclose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11900" y="4571839"/>
            <a:ext cx="0" cy="568920"/>
          </a:xfrm>
          <a:prstGeom prst="line">
            <a:avLst/>
          </a:prstGeom>
          <a:noFill/>
          <a:ln w="25400">
            <a:solidFill>
              <a:srgbClr val="FF7B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7000" y="4597239"/>
            <a:ext cx="504926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табы + пробелы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77000" y="4884229"/>
            <a:ext cx="504926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TabError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GUARD CLAUSE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Guard-стиль: отсеять плохие случаи сразу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925"/>
            <a:ext cx="5118100" cy="2816849"/>
          </a:xfrm>
          <a:prstGeom prst="roundRect">
            <a:avLst>
              <a:gd name="adj" fmla="val 3381"/>
            </a:avLst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46275"/>
            <a:ext cx="473532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вложенно · «лесенка»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500" y="2461220"/>
            <a:ext cx="473532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discount(user, total):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user is not None: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user.active: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if total &gt; 1000: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return total * 0.1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return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54750" y="1885925"/>
            <a:ext cx="5118100" cy="2816849"/>
          </a:xfrm>
          <a:prstGeom prst="roundRect">
            <a:avLst>
              <a:gd name="adj" fmla="val 3381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5100" y="2146275"/>
            <a:ext cx="473532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guard · ранний выход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5100" y="2461220"/>
            <a:ext cx="4735322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discount(user, total):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user is None: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not user.active: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total &lt;= 1000: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return total * 0.1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5500" y="5013920"/>
            <a:ext cx="0" cy="548595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" y="5039320"/>
            <a:ext cx="3305113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Проверки в начале, основной путь — без отступов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15348" y="5013920"/>
            <a:ext cx="0" cy="548595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0448" y="5039320"/>
            <a:ext cx="330514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цикле та же роль у continue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05225" y="5013920"/>
            <a:ext cx="0" cy="548595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0325" y="5039320"/>
            <a:ext cx="3305143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Вложенность меньше, но M не меняется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ПРЕДСКАЗАНИЕ ВЕТВЛЕНИЙ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3" cy="919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Конвейер выполняет несколько инструкций одновременно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75805"/>
            <a:ext cx="157480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такт 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62200" y="2275805"/>
            <a:ext cx="1291771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3972" y="2275805"/>
            <a:ext cx="1291771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45743" y="2275805"/>
            <a:ext cx="1291771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37515" y="2275805"/>
            <a:ext cx="1291771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29286" y="2275805"/>
            <a:ext cx="1291771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21058" y="2275805"/>
            <a:ext cx="1291771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12829" y="2275805"/>
            <a:ext cx="1291771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2616150"/>
            <a:ext cx="15748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инстр.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87600" y="2539950"/>
            <a:ext cx="1240971" cy="401297"/>
          </a:xfrm>
          <a:prstGeom prst="roundRect">
            <a:avLst>
              <a:gd name="adj" fmla="val 12659"/>
            </a:avLst>
          </a:prstGeom>
          <a:solidFill>
            <a:srgbClr val="1C2D41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9372" y="2539950"/>
            <a:ext cx="1240971" cy="401297"/>
          </a:xfrm>
          <a:prstGeom prst="roundRect">
            <a:avLst>
              <a:gd name="adj" fmla="val 12659"/>
            </a:avLst>
          </a:prstGeom>
          <a:solidFill>
            <a:srgbClr val="1C2D41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71143" y="2539950"/>
            <a:ext cx="1240971" cy="401297"/>
          </a:xfrm>
          <a:prstGeom prst="roundRect">
            <a:avLst>
              <a:gd name="adj" fmla="val 12659"/>
            </a:avLst>
          </a:prstGeom>
          <a:solidFill>
            <a:srgbClr val="1C2D41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2915" y="2539950"/>
            <a:ext cx="1240971" cy="401297"/>
          </a:xfrm>
          <a:prstGeom prst="roundRect">
            <a:avLst>
              <a:gd name="adj" fmla="val 12659"/>
            </a:avLst>
          </a:prstGeom>
          <a:solidFill>
            <a:srgbClr val="1C2D41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54686" y="2616150"/>
            <a:ext cx="1291771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инстр.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46458" y="2539950"/>
            <a:ext cx="1240971" cy="401297"/>
          </a:xfrm>
          <a:prstGeom prst="roundRect">
            <a:avLst>
              <a:gd name="adj" fmla="val 12659"/>
            </a:avLst>
          </a:prstGeom>
          <a:solidFill>
            <a:srgbClr val="1C2D41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138229" y="2539950"/>
            <a:ext cx="1240971" cy="401297"/>
          </a:xfrm>
          <a:prstGeom prst="roundRect">
            <a:avLst>
              <a:gd name="adj" fmla="val 12659"/>
            </a:avLst>
          </a:prstGeom>
          <a:solidFill>
            <a:srgbClr val="1C2D41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2992041"/>
            <a:ext cx="1524000" cy="401297"/>
          </a:xfrm>
          <a:prstGeom prst="roundRect">
            <a:avLst>
              <a:gd name="adj" fmla="val 12659"/>
            </a:avLst>
          </a:prstGeom>
          <a:solidFill>
            <a:srgbClr val="1C2D41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87600" y="2992041"/>
            <a:ext cx="1240971" cy="401297"/>
          </a:xfrm>
          <a:prstGeom prst="roundRect">
            <a:avLst>
              <a:gd name="adj" fmla="val 12659"/>
            </a:avLst>
          </a:prstGeom>
          <a:solidFill>
            <a:srgbClr val="1C2D41"/>
          </a:solidFill>
          <a:ln/>
        </p:spPr>
        <p:txBody>
          <a:bodyPr wrap="square" lIns="35921" tIns="61321" rIns="35921" bIns="3592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79372" y="3068241"/>
            <a:ext cx="1291771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883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(jg)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77493" y="2998391"/>
            <a:ext cx="1228271" cy="388597"/>
          </a:xfrm>
          <a:prstGeom prst="roundRect">
            <a:avLst>
              <a:gd name="adj" fmla="val 11439"/>
            </a:avLst>
          </a:prstGeom>
          <a:solidFill>
            <a:srgbClr val="3A2615"/>
          </a:solidFill>
          <a:ln w="12700">
            <a:solidFill>
              <a:srgbClr val="F0883E"/>
            </a:solidFill>
            <a:prstDash val="solid"/>
          </a:ln>
        </p:spPr>
        <p:txBody>
          <a:bodyPr wrap="square" lIns="31431" tIns="56831" rIns="31431" bIns="3143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9265" y="2998391"/>
            <a:ext cx="1228271" cy="388597"/>
          </a:xfrm>
          <a:prstGeom prst="roundRect">
            <a:avLst>
              <a:gd name="adj" fmla="val 11439"/>
            </a:avLst>
          </a:prstGeom>
          <a:solidFill>
            <a:srgbClr val="3A2615"/>
          </a:solidFill>
          <a:ln w="12700">
            <a:solidFill>
              <a:srgbClr val="F0883E"/>
            </a:solidFill>
            <a:prstDash val="solid"/>
          </a:ln>
        </p:spPr>
        <p:txBody>
          <a:bodyPr wrap="square" lIns="31431" tIns="56831" rIns="31431" bIns="3143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61036" y="2998391"/>
            <a:ext cx="1228271" cy="388597"/>
          </a:xfrm>
          <a:prstGeom prst="roundRect">
            <a:avLst>
              <a:gd name="adj" fmla="val 11439"/>
            </a:avLst>
          </a:prstGeom>
          <a:solidFill>
            <a:srgbClr val="3A2615"/>
          </a:solidFill>
          <a:ln w="12700">
            <a:solidFill>
              <a:srgbClr val="F0883E"/>
            </a:solidFill>
            <a:prstDash val="solid"/>
          </a:ln>
        </p:spPr>
        <p:txBody>
          <a:bodyPr wrap="square" lIns="31431" tIns="56831" rIns="31431" bIns="3143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52808" y="2998391"/>
            <a:ext cx="1228271" cy="388597"/>
          </a:xfrm>
          <a:prstGeom prst="roundRect">
            <a:avLst>
              <a:gd name="adj" fmla="val 11439"/>
            </a:avLst>
          </a:prstGeom>
          <a:solidFill>
            <a:srgbClr val="3A2615"/>
          </a:solidFill>
          <a:ln w="12700">
            <a:solidFill>
              <a:srgbClr val="F0883E"/>
            </a:solidFill>
            <a:prstDash val="solid"/>
          </a:ln>
        </p:spPr>
        <p:txBody>
          <a:bodyPr wrap="square" lIns="31431" tIns="56831" rIns="31431" bIns="3143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38229" y="3068241"/>
            <a:ext cx="1291771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инстр. 4 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9150" y="3450493"/>
            <a:ext cx="1511300" cy="388597"/>
          </a:xfrm>
          <a:prstGeom prst="roundRect">
            <a:avLst>
              <a:gd name="adj" fmla="val 1143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dash"/>
          </a:ln>
        </p:spPr>
        <p:txBody>
          <a:bodyPr wrap="square" lIns="31431" tIns="56831" rIns="31431" bIns="3143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393950" y="3450493"/>
            <a:ext cx="1228271" cy="388597"/>
          </a:xfrm>
          <a:prstGeom prst="roundRect">
            <a:avLst>
              <a:gd name="adj" fmla="val 1143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dash"/>
          </a:ln>
        </p:spPr>
        <p:txBody>
          <a:bodyPr wrap="square" lIns="31431" tIns="56831" rIns="31431" bIns="3143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85722" y="3450493"/>
            <a:ext cx="1228271" cy="388597"/>
          </a:xfrm>
          <a:prstGeom prst="roundRect">
            <a:avLst>
              <a:gd name="adj" fmla="val 1143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dash"/>
          </a:ln>
        </p:spPr>
        <p:txBody>
          <a:bodyPr wrap="square" lIns="31431" tIns="56831" rIns="31431" bIns="3143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77493" y="3450493"/>
            <a:ext cx="1228271" cy="388597"/>
          </a:xfrm>
          <a:prstGeom prst="roundRect">
            <a:avLst>
              <a:gd name="adj" fmla="val 1143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dash"/>
          </a:ln>
        </p:spPr>
        <p:txBody>
          <a:bodyPr wrap="square" lIns="31431" tIns="56831" rIns="31431" bIns="3143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2800" y="4099446"/>
            <a:ext cx="10883393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 — загрузка, D — декодирование, E — выполнение, W — запись результата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2800" y="4584564"/>
            <a:ext cx="10883393" cy="594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компилируется в сравнение и условный переход (cmp + jg). Какую инструкцию загружать следующей, станет ясно только после E — а конвейер не может ждать.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ПРЕДСКАЗАНИЕ ВЕТВЛЕНИЙ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58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Процессор угадывает ветку заранее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925"/>
            <a:ext cx="4432300" cy="993095"/>
          </a:xfrm>
          <a:prstGeom prst="roundRect">
            <a:avLst>
              <a:gd name="adj" fmla="val 9591"/>
            </a:avLst>
          </a:prstGeom>
          <a:solidFill>
            <a:srgbClr val="132A1C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095475"/>
            <a:ext cx="4133596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Угадал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2420578"/>
            <a:ext cx="413359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потерь нет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9150" y="3044118"/>
            <a:ext cx="4432300" cy="993095"/>
          </a:xfrm>
          <a:prstGeom prst="roundRect">
            <a:avLst>
              <a:gd name="adj" fmla="val 9591"/>
            </a:avLst>
          </a:prstGeom>
          <a:solidFill>
            <a:srgbClr val="3A1A1A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700" y="3253668"/>
            <a:ext cx="4133596" cy="299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7B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угадал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8700" y="3578771"/>
            <a:ext cx="42164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конвейер сбрасывается: штраф ~10–20 тактов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195973"/>
            <a:ext cx="4578350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Регулярное условие — точность выше 95%. Случайное — около 50%.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16575" y="1882750"/>
            <a:ext cx="5759450" cy="2807834"/>
          </a:xfrm>
          <a:prstGeom prst="roundRect">
            <a:avLst>
              <a:gd name="adj" fmla="val 350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2843" y="2139020"/>
            <a:ext cx="540432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эксперимент · go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72843" y="2453965"/>
            <a:ext cx="5404322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_, v := range data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v &gt;= 128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sum += v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72843" y="3889065"/>
            <a:ext cx="5404322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Отсортированный</a:t>
            </a: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массив: сначала всегда «нет», потом всегда «да» — в разы быстрее </a:t>
            </a:r>
            <a:r>
              <a:rPr lang="en-US" sz="1400" dirty="0">
                <a:solidFill>
                  <a:srgbClr val="FF7B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перемешанного</a:t>
            </a: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ПРЕДСКАЗАНИЕ ВЕТВЛЕНИЙ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919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Непредсказуемый переход можно заменить арифметикой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29768"/>
            <a:ext cx="5581650" cy="2694385"/>
          </a:xfrm>
          <a:prstGeom prst="roundRect">
            <a:avLst>
              <a:gd name="adj" fmla="val 365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586038"/>
            <a:ext cx="522118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go · int 64 бита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243" y="2900983"/>
            <a:ext cx="5221188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с ветвлением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v &gt;= 128 { sum += v 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без ветвления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 = -1, если v &lt; 128, иначе 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 := (v - 128) &gt;&gt; 63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sum += ^t &amp; 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56400" y="2326593"/>
            <a:ext cx="4761484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Компилятор умеет сам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56400" y="2608511"/>
            <a:ext cx="476148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подставляет cmov — условную пересылку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56400" y="3035213"/>
            <a:ext cx="4761484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Сначала профилировщик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56400" y="3317131"/>
            <a:ext cx="476148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оптимизировать вручную — только после замера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56400" y="3743833"/>
            <a:ext cx="4761484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Читаемость важнее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56400" y="4025751"/>
            <a:ext cx="476148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особенно в Python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56400" y="4452454"/>
            <a:ext cx="4761484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8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Spectre, 2018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56400" y="4734371"/>
            <a:ext cx="476148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спекулятивное выполнение оставляет следы в кэше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МНОЖЕСТВЕННОЕ ВЕТВЛЕНИЕ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C switch проваливается, в Go — нет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38"/>
            <a:ext cx="5124450" cy="2961085"/>
          </a:xfrm>
          <a:prstGeom prst="roundRect">
            <a:avLst>
              <a:gd name="adj" fmla="val 332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139007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 · нужен break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243" y="2453953"/>
            <a:ext cx="4750272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 (day)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case 6: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case 7: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puts("Выходной");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break;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default: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puts("Будний");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1575" y="1882738"/>
            <a:ext cx="5124450" cy="2961085"/>
          </a:xfrm>
          <a:prstGeom prst="roundRect">
            <a:avLst>
              <a:gd name="adj" fmla="val 332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843" y="2139007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go · break подразумевается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7843" y="2453953"/>
            <a:ext cx="4750272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 day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case 6, 7: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fmt.Println("Выходной")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default: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fmt.Println("Будний")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провал — словом fallthrough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5151797"/>
            <a:ext cx="1088339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Таблица переходов:</a:t>
            </a: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для плотного диапазона целых case компилятор строит массив адресов — O(1) вместо N сравнений.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MATCH-CASE, PYTHON 3.10+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 сравнивает и значения, и структуру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38"/>
            <a:ext cx="5124450" cy="2694385"/>
          </a:xfrm>
          <a:prstGeom prst="roundRect">
            <a:avLst>
              <a:gd name="adj" fmla="val 365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139007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значения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243" y="2453953"/>
            <a:ext cx="4750272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match command: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"start":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print("Запуск")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"stop" | "quit":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print("Остановка")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_: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print("Неизвестно")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1575" y="1882738"/>
            <a:ext cx="5124450" cy="2694385"/>
          </a:xfrm>
          <a:prstGeom prst="roundRect">
            <a:avLst>
              <a:gd name="adj" fmla="val 365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843" y="2139007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структура и guard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7843" y="2453953"/>
            <a:ext cx="4750272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match point: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(0, 0):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print("Начало")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(x, 0):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print(f"На оси X: {x}")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(x, y) if x == y: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print("Диагональ")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885097"/>
            <a:ext cx="108833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088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Ловушка:</a:t>
            </a: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case x: не сравнивает, а захватывает любое значение. Для констант — литерал или Color.RED.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СЛОВАРЬ КАК ТАБЛИЦА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Словарь — таблица переходов на Python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5975" y="1882738"/>
            <a:ext cx="5708650" cy="3087234"/>
          </a:xfrm>
          <a:prstGeom prst="roundRect">
            <a:avLst>
              <a:gd name="adj" fmla="val 3188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227440" tIns="227440" rIns="71557" bIns="22744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operations =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"+": lambda a, b: a + b,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"-": lambda a, b: a - b,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"*": lambda a, b: a * b,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operations["*"](6, 7)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42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days = {1: "Пн", 2: "Вт", 3: "Ср"}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days.get(day, "Нет такого дня")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83400" y="1879563"/>
            <a:ext cx="4630674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выбрать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83400" y="2250393"/>
            <a:ext cx="4495800" cy="822920"/>
          </a:xfrm>
          <a:prstGeom prst="roundRect">
            <a:avLst>
              <a:gd name="adj" fmla="val 9260"/>
            </a:avLst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7035800" y="2402793"/>
            <a:ext cx="431673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/ elif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35800" y="2689783"/>
            <a:ext cx="431673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разные условия, диапазоны, 2–4 ветки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83400" y="3200313"/>
            <a:ext cx="4495800" cy="822920"/>
          </a:xfrm>
          <a:prstGeom prst="roundRect">
            <a:avLst>
              <a:gd name="adj" fmla="val 9260"/>
            </a:avLst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7035800" y="3352713"/>
            <a:ext cx="431673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match / case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35800" y="3639703"/>
            <a:ext cx="431673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одно значение или разбор структуры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83400" y="4150233"/>
            <a:ext cx="4495800" cy="822920"/>
          </a:xfrm>
          <a:prstGeom prst="roundRect">
            <a:avLst>
              <a:gd name="adj" fmla="val 9260"/>
            </a:avLst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7035800" y="4302633"/>
            <a:ext cx="431673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словарь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35800" y="4589624"/>
            <a:ext cx="4316730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«ключ → значение или функция»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09 · ЦИКЛОМАТИЧЕСКАЯ СЛОЖНОСТЬ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Сложность — число независимых путей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38"/>
            <a:ext cx="4057650" cy="1416730"/>
          </a:xfrm>
          <a:prstGeom prst="roundRect">
            <a:avLst>
              <a:gd name="adj" fmla="val 694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443" y="2088207"/>
            <a:ext cx="375611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Маккейб, 1976 · граф потока управления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1443" y="2395538"/>
            <a:ext cx="3756116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 = E − N + 2P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1443" y="2862883"/>
            <a:ext cx="375611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— рёбра, N — вершины, P — компоненты (1)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9150" y="3486795"/>
            <a:ext cx="4051300" cy="1353769"/>
          </a:xfrm>
          <a:prstGeom prst="roundRect">
            <a:avLst>
              <a:gd name="adj" fmla="val 7036"/>
            </a:avLst>
          </a:prstGeom>
          <a:solidFill>
            <a:srgbClr val="132A1C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8700" y="3696345"/>
            <a:ext cx="374116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практике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8700" y="4003675"/>
            <a:ext cx="3741166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 = точки ветвления + 1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8700" y="4399893"/>
            <a:ext cx="374116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if, elif, case, for, while, каждый and / 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35575" y="1882738"/>
            <a:ext cx="6140450" cy="3281136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1843" y="2139007"/>
            <a:ext cx="5796752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grade(score):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score &gt;= 85:   </a:t>
            </a: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+1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"отлично"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elif score &gt;= 70: </a:t>
            </a: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+1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"хорошо"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elif score &gt;= 50: </a:t>
            </a: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+1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"удовл."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else: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"неуд."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91843" y="4640907"/>
            <a:ext cx="5796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 = 3 + 1 = 4</a:t>
            </a:r>
            <a:r>
              <a:rPr lang="en-US" sz="15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минимум 4 теста: 90, 75, 60, 30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09 · ЦИКЛОМАТИЧЕСКАЯ СЛОЖНОСТЬ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Держите функцию не выше 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63"/>
            <a:ext cx="2641600" cy="1079472"/>
          </a:xfrm>
          <a:custGeom>
            <a:avLst/>
            <a:gdLst/>
            <a:ahLst/>
            <a:cxnLst/>
            <a:rect l="l" t="t" r="r" b="b"/>
            <a:pathLst>
              <a:path w="2641600" h="1079472">
                <a:moveTo>
                  <a:pt x="101600" y="0"/>
                </a:moveTo>
                <a:lnTo>
                  <a:pt x="2641600" y="0"/>
                </a:lnTo>
                <a:lnTo>
                  <a:pt x="2641600" y="1079472"/>
                </a:lnTo>
                <a:lnTo>
                  <a:pt x="101600" y="1079472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32A1C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82763"/>
            <a:ext cx="2302256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1–10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2524720"/>
            <a:ext cx="230225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простая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54400" y="1879563"/>
            <a:ext cx="2641600" cy="1079472"/>
          </a:xfrm>
          <a:prstGeom prst="rect">
            <a:avLst/>
          </a:prstGeom>
          <a:solidFill>
            <a:srgbClr val="2E2A1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082763"/>
            <a:ext cx="2302256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3B3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11–20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0" y="2524720"/>
            <a:ext cx="230225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умеренная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6000" y="1879563"/>
            <a:ext cx="2641600" cy="1079472"/>
          </a:xfrm>
          <a:prstGeom prst="rect">
            <a:avLst/>
          </a:prstGeom>
          <a:solidFill>
            <a:srgbClr val="3A2615"/>
          </a:solidFill>
          <a:ln/>
        </p:spPr>
      </p:sp>
      <p:sp>
        <p:nvSpPr>
          <p:cNvPr id="11" name="Text 9"/>
          <p:cNvSpPr/>
          <p:nvPr/>
        </p:nvSpPr>
        <p:spPr>
          <a:xfrm>
            <a:off x="6299200" y="2082763"/>
            <a:ext cx="2302256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83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21–50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99200" y="2524720"/>
            <a:ext cx="230225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высокий риск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37601" y="1879563"/>
            <a:ext cx="2641600" cy="1079472"/>
          </a:xfrm>
          <a:custGeom>
            <a:avLst/>
            <a:gdLst/>
            <a:ahLst/>
            <a:cxnLst/>
            <a:rect l="l" t="t" r="r" b="b"/>
            <a:pathLst>
              <a:path w="2641600" h="1079472">
                <a:moveTo>
                  <a:pt x="0" y="0"/>
                </a:moveTo>
                <a:lnTo>
                  <a:pt x="2540000" y="0"/>
                </a:lnTo>
                <a:arcTo hR="101600" wR="101600" stAng="16200000" swAng="5400000"/>
                <a:lnTo>
                  <a:pt x="2641600" y="977872"/>
                </a:lnTo>
                <a:arcTo hR="101600" wR="101600" stAng="0" swAng="5400000"/>
                <a:lnTo>
                  <a:pt x="0" y="1079472"/>
                </a:lnTo>
                <a:lnTo>
                  <a:pt x="0" y="0"/>
                </a:lnTo>
                <a:close/>
              </a:path>
            </a:pathLst>
          </a:custGeom>
          <a:solidFill>
            <a:srgbClr val="3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940801" y="2082763"/>
            <a:ext cx="2302256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7B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 50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40801" y="2524720"/>
            <a:ext cx="2302256" cy="25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нетестируемая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263838"/>
            <a:ext cx="5258562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снижать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032" y="3609268"/>
            <a:ext cx="517271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делить на маленькие функции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длинный if/elif → словарь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выносить условия в переменные с именами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4510968"/>
            <a:ext cx="5258562" cy="48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Ранний возврат уменьшает вложенность, но не M. Каждый case в match — тоже +1.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73800" y="3263838"/>
            <a:ext cx="5258562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Инструменты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73800" y="3609268"/>
            <a:ext cx="5258562" cy="878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radon cc file.py -s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flake8 --max-complexity 10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gocyclo 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· ЦИКЛЫ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перебирает элементы последовательности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38"/>
            <a:ext cx="6089650" cy="3551634"/>
          </a:xfrm>
          <a:prstGeom prst="roundRect">
            <a:avLst>
              <a:gd name="adj" fmla="val 277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139007"/>
            <a:ext cx="574442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243" y="2453965"/>
            <a:ext cx="5744428" cy="274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i in range(5):         </a:t>
            </a:r>
            <a:r>
              <a:rPr lang="en-US" sz="13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0 1 2 3 4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print(i)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i in range(10, 0, -2): </a:t>
            </a:r>
            <a:r>
              <a:rPr lang="en-US" sz="13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10 8 6 4 2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print(i)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ch in "кот":           </a:t>
            </a:r>
            <a:r>
              <a:rPr lang="en-US" sz="13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к о т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print(ch)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i, name in enumerate(["Аня", "Боря"]):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print(i, name)         </a:t>
            </a:r>
            <a:r>
              <a:rPr lang="en-US" sz="13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0 Аня / 1 Боря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13600" y="1879563"/>
            <a:ext cx="4290568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range(start, stop, step)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13600" y="2174193"/>
            <a:ext cx="429056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не включается: range(5) — это 0…4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13600" y="2600883"/>
            <a:ext cx="4290568" cy="269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Счётчик не нужен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13600" y="2895513"/>
            <a:ext cx="4290568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переменная цикла получает очередной элемент сама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16775" y="3574281"/>
            <a:ext cx="4159250" cy="1106884"/>
          </a:xfrm>
          <a:prstGeom prst="roundRect">
            <a:avLst>
              <a:gd name="adj" fmla="val 8892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96843" y="3754351"/>
            <a:ext cx="3913088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A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96843" y="4043896"/>
            <a:ext cx="391308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i := 0; i &lt; 5; i++ {}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i, v := range names {}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· ЦИКЛЫ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while повторяет, пока условие истинно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38"/>
            <a:ext cx="5124450" cy="2427685"/>
          </a:xfrm>
          <a:prstGeom prst="roundRect">
            <a:avLst>
              <a:gd name="adj" fmla="val 405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139007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сумма цифр числа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243" y="2453965"/>
            <a:ext cx="475027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 = 1234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 = 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n &gt; 0: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 += n % 10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 //= 10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print(s)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1575" y="1882738"/>
            <a:ext cx="5124450" cy="2427685"/>
          </a:xfrm>
          <a:prstGeom prst="roundRect">
            <a:avLst>
              <a:gd name="adj" fmla="val 405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843" y="2139007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проверка ввода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7843" y="2453965"/>
            <a:ext cx="47502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age = int(input("Возраст: "))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age &lt; 0: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age = int(input("Ещё раз: "))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print("Принято:", age)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5500" y="4618397"/>
            <a:ext cx="0" cy="299697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" y="4643797"/>
            <a:ext cx="515391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Тело должно менять условие — иначе цикл бесконечный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0300" y="4618397"/>
            <a:ext cx="0" cy="299697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5400" y="4643797"/>
            <a:ext cx="515391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Go нет while: for n &gt; 0 { … }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· ЦИКЛЫ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Можно перебрать — for, ждём условия — while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2263"/>
          <a:ext cx="10553701" cy="2743200"/>
        </p:xfrm>
        <a:graphic>
          <a:graphicData uri="http://schemas.openxmlformats.org/drawingml/2006/table">
            <a:tbl>
              <a:tblPr/>
              <a:tblGrid>
                <a:gridCol w="3166110"/>
                <a:gridCol w="3693795"/>
                <a:gridCol w="3693795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3FB95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58A6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while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9DA7B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Число повторений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известно заранее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заранее неизвестно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9DA7B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Что управляет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последовательность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логическое условие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9DA7B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Счётчик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обновляется сам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меняете вручную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9DA7B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Бесконечный цикл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почти невозможен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легко получить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9DA7B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Примеры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элементы списка, символы строки, 1…N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ввод до корректного, цифры числа, ожидание события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940263"/>
            <a:ext cx="108833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Любой for можно переписать через while, но for короче и безопаснее. В Go один цикл for в трёх формах.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· BREAK И CONTINUE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 выходит из цикла, continue — из итерации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38"/>
            <a:ext cx="5124450" cy="2427685"/>
          </a:xfrm>
          <a:prstGeom prst="roundRect">
            <a:avLst>
              <a:gd name="adj" fmla="val 405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139007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 · ввод до 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243" y="2453965"/>
            <a:ext cx="4750272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True: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text = input()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text == "q":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break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print(int(text) ** 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1575" y="1882738"/>
            <a:ext cx="5124450" cy="2427685"/>
          </a:xfrm>
          <a:prstGeom prst="roundRect">
            <a:avLst>
              <a:gd name="adj" fmla="val 405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843" y="2139007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A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continue · только нечётные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7843" y="2453965"/>
            <a:ext cx="475027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 = 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n in range(1, 11):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n % 2 == 0: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continue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total += n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print(total)  </a:t>
            </a:r>
            <a:r>
              <a:rPr lang="en-US" sz="1400" dirty="0">
                <a:solidFill>
                  <a:srgbClr val="8B94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618397"/>
            <a:ext cx="108833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Работают и в for, и в while. while True + break — замена цикла do-while, которого в Python нет.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· BREAK И CONTINUE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70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else у цикла и вложенные циклы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50"/>
            <a:ext cx="5124450" cy="2961085"/>
          </a:xfrm>
          <a:prstGeom prst="roundRect">
            <a:avLst>
              <a:gd name="adj" fmla="val 332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243" y="2139032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· else, если не было break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243" y="2453977"/>
            <a:ext cx="475027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d in range(2, n):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n % d == 0: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print("составное")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break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print("простое")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1575" y="1882750"/>
            <a:ext cx="5124450" cy="2961085"/>
          </a:xfrm>
          <a:prstGeom prst="roundRect">
            <a:avLst>
              <a:gd name="adj" fmla="val 332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843" y="2139032"/>
            <a:ext cx="475027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A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go · метка на внешнем цикле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7843" y="2453977"/>
            <a:ext cx="4750272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outer: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i := 0; i &lt; 10; i++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for j := 0; j &lt; 10; j++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i*j == 42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break outer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5151810"/>
            <a:ext cx="108833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DA7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 действует на ближайший цикл. Меток в Python нет — флаг или функция с return.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ИТОГИ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70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унести с лекции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5500" y="1879575"/>
            <a:ext cx="0" cy="548595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1904975"/>
            <a:ext cx="5258562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— </a:t>
            </a:r>
            <a:r>
              <a:rPr lang="en-US" sz="14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динамический и строгий</a:t>
            </a: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тип у значения, без неявных преобразований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08700" y="1879575"/>
            <a:ext cx="0" cy="548595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73800" y="1904975"/>
            <a:ext cx="5258562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Ветвление в процессоре — условный переход; </a:t>
            </a:r>
            <a:r>
              <a:rPr lang="en-US" sz="14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предсказуемое быстрее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5500" y="2428180"/>
            <a:ext cx="0" cy="548595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2453580"/>
            <a:ext cx="5258562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Простые типы неизменяемы; </a:t>
            </a:r>
            <a:r>
              <a:rPr lang="en-US" sz="14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float не сравнивают через ==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08700" y="2428180"/>
            <a:ext cx="0" cy="548595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3800" y="2453580"/>
            <a:ext cx="5258562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match/case</a:t>
            </a: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сопоставление с образцом; простое отображение — словарь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5500" y="2976761"/>
            <a:ext cx="0" cy="299697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3002161"/>
            <a:ext cx="5258562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даёт float, // — вниз; </a:t>
            </a:r>
            <a:r>
              <a:rPr lang="en-US" sz="14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input() всегда str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08700" y="2976761"/>
            <a:ext cx="0" cy="299697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3800" y="3002161"/>
            <a:ext cx="5258562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 = ветвления + 1</a:t>
            </a: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держите функцию не выше 10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5500" y="3276476"/>
            <a:ext cx="0" cy="548595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" y="3301876"/>
            <a:ext cx="5258562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if/elif/else: </a:t>
            </a:r>
            <a:r>
              <a:rPr lang="en-US" sz="14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сверху вниз до первого истинного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08700" y="3276476"/>
            <a:ext cx="0" cy="548595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3800" y="3301876"/>
            <a:ext cx="5258562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</a:t>
            </a: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выход из ближайшего цикла, </a:t>
            </a:r>
            <a:r>
              <a:rPr lang="en-US" sz="1400" b="1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continue</a:t>
            </a: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к следующей итерации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КОНТРОЛЬНЫЕ ВОПРОСЫ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70"/>
            <a:ext cx="10883393" cy="47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Проверьте себя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75"/>
            <a:ext cx="15750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46503" y="1879575"/>
            <a:ext cx="504949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Чем статическая типизация отличается от динамической?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0" y="1879575"/>
            <a:ext cx="15750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9703" y="1879575"/>
            <a:ext cx="376111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Почему if x == 1 or 2: всегда истинно?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128490"/>
            <a:ext cx="15750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6503" y="2128490"/>
            <a:ext cx="504949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Почему "5" + 3 в Python — ошибка, а в JavaScript — "53"?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0" y="2128490"/>
            <a:ext cx="15750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9703" y="2128490"/>
            <a:ext cx="5395675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Почему цикл по отсортированному массиву быстрее?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2377380"/>
            <a:ext cx="15750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6503" y="2377380"/>
            <a:ext cx="353666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Чему равны -7 // 2, -7 % 2 и -2 ** 2?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6000" y="2377380"/>
            <a:ext cx="15750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9703" y="2377380"/>
            <a:ext cx="5848861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Чем switch в C отличается от switch в Go и match в Python?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2626271"/>
            <a:ext cx="15750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46503" y="2626271"/>
            <a:ext cx="504949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выведет print(input() + input()) при вводе 2 и 3?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6000" y="2626271"/>
            <a:ext cx="15750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9703" y="2626271"/>
            <a:ext cx="423202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Когда выполняется ветка else у цикла for?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3179961"/>
            <a:ext cx="1088339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Полный список вопросов и задания для практики — в конспекте лекции.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ы Python, типизация, ветвления">
  <a:themeElements>
    <a:clrScheme name="Основы Python, типизация, ветвления">
      <a:dk1>
        <a:srgbClr val="0D1117"/>
      </a:dk1>
      <a:lt1>
        <a:srgbClr val="E6EDF3"/>
      </a:lt1>
      <a:dk2>
        <a:srgbClr val="23272D"/>
      </a:dk2>
      <a:lt2>
        <a:srgbClr val="B0B6BC"/>
      </a:lt2>
      <a:accent1>
        <a:srgbClr val="3FB950"/>
      </a:accent1>
      <a:accent2>
        <a:srgbClr val="58A6FF"/>
      </a:accent2>
      <a:accent3>
        <a:srgbClr val="F0883E"/>
      </a:accent3>
      <a:accent4>
        <a:srgbClr val="FF7B72"/>
      </a:accent4>
      <a:accent5>
        <a:srgbClr val="E3B341"/>
      </a:accent5>
      <a:accent6>
        <a:srgbClr val="9DA7B3"/>
      </a:accent6>
      <a:hlink>
        <a:srgbClr val="0563C1"/>
      </a:hlink>
      <a:folHlink>
        <a:srgbClr val="954F72"/>
      </a:folHlink>
    </a:clrScheme>
    <a:fontScheme name="Основы Python, типизация, ветвления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etBrains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Python, типизация, ветвления</dc:title>
  <dc:subject/>
  <dc:creator/>
  <cp:lastModifiedBy/>
  <cp:revision>1</cp:revision>
  <dcterms:created xsi:type="dcterms:W3CDTF">2026-10-07T04:12:42Z</dcterms:created>
  <dcterms:modified xsi:type="dcterms:W3CDTF">2026-10-07T04:12:42Z</dcterms:modified>
</cp:coreProperties>
</file>